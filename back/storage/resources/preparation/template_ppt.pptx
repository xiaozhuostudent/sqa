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Relationship Id="rId4" Type="http://schemas.openxmlformats.org/officeDocument/2006/relationships/image" Target="../media/image9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jpeg"/><Relationship Id="rId4" Type="http://schemas.openxmlformats.org/officeDocument/2006/relationships/image" Target="../media/image12.jpeg"/><Relationship Id="rId5" Type="http://schemas.openxmlformats.org/officeDocument/2006/relationships/image" Target="../media/image1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3" Type="http://schemas.openxmlformats.org/officeDocument/2006/relationships/image" Target="../media/image24.jpeg"/><Relationship Id="rId4" Type="http://schemas.openxmlformats.org/officeDocument/2006/relationships/image" Target="../media/image2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eg"/><Relationship Id="rId3" Type="http://schemas.openxmlformats.org/officeDocument/2006/relationships/image" Target="../media/image27.jpeg"/><Relationship Id="rId4" Type="http://schemas.openxmlformats.org/officeDocument/2006/relationships/image" Target="../media/image28.jpeg"/><Relationship Id="rId5" Type="http://schemas.openxmlformats.org/officeDocument/2006/relationships/image" Target="../media/image29.jpeg"/><Relationship Id="rId6" Type="http://schemas.openxmlformats.org/officeDocument/2006/relationships/image" Target="../media/image30.jpeg"/><Relationship Id="rId7" Type="http://schemas.openxmlformats.org/officeDocument/2006/relationships/image" Target="../media/image31.jpeg"/><Relationship Id="rId8" Type="http://schemas.openxmlformats.org/officeDocument/2006/relationships/image" Target="../media/image32.jpeg"/><Relationship Id="rId9" Type="http://schemas.openxmlformats.org/officeDocument/2006/relationships/image" Target="../media/image33.jpeg"/><Relationship Id="rId10" Type="http://schemas.openxmlformats.org/officeDocument/2006/relationships/image" Target="../media/image34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5.jpeg"/><Relationship Id="rId3" Type="http://schemas.openxmlformats.org/officeDocument/2006/relationships/image" Target="../media/image36.jpeg"/><Relationship Id="rId4" Type="http://schemas.openxmlformats.org/officeDocument/2006/relationships/image" Target="../media/image37.jpeg"/><Relationship Id="rId5" Type="http://schemas.openxmlformats.org/officeDocument/2006/relationships/image" Target="../media/image38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9.jpeg"/><Relationship Id="rId3" Type="http://schemas.openxmlformats.org/officeDocument/2006/relationships/image" Target="../media/image40.jpeg"/><Relationship Id="rId4" Type="http://schemas.openxmlformats.org/officeDocument/2006/relationships/image" Target="../media/image41.jpeg"/><Relationship Id="rId5" Type="http://schemas.openxmlformats.org/officeDocument/2006/relationships/image" Target="../media/image42.jpeg"/><Relationship Id="rId6" Type="http://schemas.openxmlformats.org/officeDocument/2006/relationships/image" Target="../media/image43.jpeg"/><Relationship Id="rId7" Type="http://schemas.openxmlformats.org/officeDocument/2006/relationships/image" Target="../media/image44.jpeg"/><Relationship Id="rId8" Type="http://schemas.openxmlformats.org/officeDocument/2006/relationships/image" Target="../media/image45.jpeg"/><Relationship Id="rId9" Type="http://schemas.openxmlformats.org/officeDocument/2006/relationships/image" Target="../media/image46.jpeg"/><Relationship Id="rId10" Type="http://schemas.openxmlformats.org/officeDocument/2006/relationships/image" Target="../media/image47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jpeg"/><Relationship Id="rId3" Type="http://schemas.openxmlformats.org/officeDocument/2006/relationships/image" Target="../media/image51.jpeg"/><Relationship Id="rId4" Type="http://schemas.openxmlformats.org/officeDocument/2006/relationships/image" Target="../media/image52.jpeg"/><Relationship Id="rId5" Type="http://schemas.openxmlformats.org/officeDocument/2006/relationships/image" Target="../media/image53.jpeg"/><Relationship Id="rId6" Type="http://schemas.openxmlformats.org/officeDocument/2006/relationships/image" Target="../media/image54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5.jpeg"/><Relationship Id="rId3" Type="http://schemas.openxmlformats.org/officeDocument/2006/relationships/image" Target="../media/image56.jpeg"/><Relationship Id="rId4" Type="http://schemas.openxmlformats.org/officeDocument/2006/relationships/image" Target="../media/image57.jpeg"/><Relationship Id="rId5" Type="http://schemas.openxmlformats.org/officeDocument/2006/relationships/image" Target="../media/image58.jpeg"/><Relationship Id="rId6" Type="http://schemas.openxmlformats.org/officeDocument/2006/relationships/image" Target="../media/image59.jpeg"/><Relationship Id="rId7" Type="http://schemas.openxmlformats.org/officeDocument/2006/relationships/image" Target="../media/image60.jpeg"/><Relationship Id="rId8" Type="http://schemas.openxmlformats.org/officeDocument/2006/relationships/image" Target="../media/image61.jpeg"/><Relationship Id="rId9" Type="http://schemas.openxmlformats.org/officeDocument/2006/relationships/image" Target="../media/image62.jpeg"/><Relationship Id="rId10" Type="http://schemas.openxmlformats.org/officeDocument/2006/relationships/image" Target="../media/image63.jpeg"/><Relationship Id="rId11" Type="http://schemas.openxmlformats.org/officeDocument/2006/relationships/image" Target="../media/image64.jpeg"/><Relationship Id="rId12" Type="http://schemas.openxmlformats.org/officeDocument/2006/relationships/image" Target="../media/image65.jpeg"/><Relationship Id="rId13" Type="http://schemas.openxmlformats.org/officeDocument/2006/relationships/image" Target="../media/image66.jpeg"/><Relationship Id="rId14" Type="http://schemas.openxmlformats.org/officeDocument/2006/relationships/image" Target="../media/image67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8.png"/><Relationship Id="rId3" Type="http://schemas.openxmlformats.org/officeDocument/2006/relationships/image" Target="../media/image69.jpeg"/><Relationship Id="rId4" Type="http://schemas.openxmlformats.org/officeDocument/2006/relationships/image" Target="../media/image70.jpeg"/><Relationship Id="rId5" Type="http://schemas.openxmlformats.org/officeDocument/2006/relationships/image" Target="../media/image71.jpeg"/><Relationship Id="rId6" Type="http://schemas.openxmlformats.org/officeDocument/2006/relationships/image" Target="../media/image7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060439" y="1875239"/>
            <a:ext cx="8451850" cy="2052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7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2000"/>
              </a:lnSpc>
              <a:tabLst/>
            </a:pPr>
            <a:r>
              <a:rPr sz="13800" b="1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13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29"/>
              </a:spcBef>
              <a:tabLst/>
            </a:pPr>
            <a:r>
              <a:rPr sz="35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基于大模型驱动的全场景教学管理云</a:t>
            </a:r>
            <a:r>
              <a:rPr sz="35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43780" y="4851417"/>
            <a:ext cx="711159" cy="67942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4560" y="4851417"/>
            <a:ext cx="679338" cy="66035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937699" y="4851417"/>
            <a:ext cx="679460" cy="654047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19600" y="4851417"/>
            <a:ext cx="654100" cy="660356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6407118" y="5638289"/>
            <a:ext cx="2153920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覆盖教、学、管、测全流程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012141" y="5635747"/>
            <a:ext cx="1989454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新一代智能教学管理系统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736322" y="5635747"/>
            <a:ext cx="197548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大模型深度赋能教育场景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9540202" y="5673877"/>
            <a:ext cx="1436369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云原生微服务架构</a:t>
            </a:r>
            <a:endParaRPr sz="14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6400779" y="1785045"/>
            <a:ext cx="2195829" cy="3660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ct val="99000"/>
              </a:lnSpc>
              <a:tabLst/>
            </a:pPr>
            <a:r>
              <a:rPr sz="3300" kern="0" spc="60" baseline="-94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1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功能体系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571500" algn="l" rtl="0" eaLnBrk="0">
              <a:lnSpc>
                <a:spcPct val="116000"/>
              </a:lnSpc>
              <a:spcBef>
                <a:spcPts val="531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学生端/教师端/管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理员端功能全景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571500" indent="-558800" algn="l" rtl="0" eaLnBrk="0">
              <a:lnSpc>
                <a:spcPct val="112000"/>
              </a:lnSpc>
              <a:spcBef>
                <a:spcPts val="4"/>
              </a:spcBef>
              <a:tabLst/>
            </a:pPr>
            <a:r>
              <a:rPr sz="5000" kern="0" spc="20" baseline="-6250" dirty="0">
                <a:solidFill>
                  <a:srgbClr val="D08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⑦</a:t>
            </a:r>
            <a:r>
              <a:rPr sz="3200" kern="0" spc="-310" dirty="0">
                <a:solidFill>
                  <a:srgbClr val="D0802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300" b="1" kern="0" spc="20" baseline="473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部署方案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Docker</a:t>
            </a:r>
            <a:r>
              <a:rPr sz="16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容器化+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K8s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云原生部署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3835460" y="1772671"/>
            <a:ext cx="2117089" cy="3375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3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" algn="l" rtl="0" eaLnBrk="0">
              <a:lnSpc>
                <a:spcPct val="98000"/>
              </a:lnSpc>
              <a:tabLst/>
            </a:pPr>
            <a:r>
              <a:rPr sz="3300" kern="0" spc="0" baseline="-94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21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技术选型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456565" algn="l" rtl="0" eaLnBrk="0">
              <a:lnSpc>
                <a:spcPct val="118000"/>
              </a:lnSpc>
              <a:spcBef>
                <a:spcPts val="563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核心技术调研与选</a:t>
            </a: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型依据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48"/>
              </a:spcBef>
              <a:tabLst/>
            </a:pPr>
            <a:r>
              <a:rPr sz="3300" kern="0" spc="60" baseline="-94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2100" kern="0" spc="1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系统架构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6565" algn="l" rtl="0" eaLnBrk="0">
              <a:lnSpc>
                <a:spcPct val="95000"/>
              </a:lnSpc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技术栈与服务架构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9207499" y="1771814"/>
            <a:ext cx="1907539" cy="3673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3300" kern="0" spc="0" baseline="-6313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  <a:r>
              <a:rPr sz="2100" kern="0" spc="8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技术难点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450850" algn="l" rtl="0" eaLnBrk="0">
              <a:lnSpc>
                <a:spcPct val="100000"/>
              </a:lnSpc>
              <a:spcBef>
                <a:spcPts val="1228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七大核心技术调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研与选型依据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spcBef>
                <a:spcPts val="652"/>
              </a:spcBef>
              <a:tabLst/>
            </a:pPr>
            <a:r>
              <a:rPr sz="3300" kern="0" spc="60" baseline="-6313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</a:t>
            </a:r>
            <a:r>
              <a:rPr sz="2100" kern="0" spc="10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总结展望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0850" algn="l" rtl="0" eaLnBrk="0">
              <a:lnSpc>
                <a:spcPct val="119000"/>
              </a:lnSpc>
              <a:spcBef>
                <a:spcPts val="3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项目成果与未来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规划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68460" y="1784225"/>
            <a:ext cx="1878329" cy="3395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5609" algn="l" rtl="0" eaLnBrk="0">
              <a:lnSpc>
                <a:spcPct val="98000"/>
              </a:lnSpc>
              <a:tabLst/>
            </a:pPr>
            <a:r>
              <a:rPr sz="2100" b="1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团队介绍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431165" algn="l" rtl="0" eaLnBrk="0">
              <a:lnSpc>
                <a:spcPct val="120000"/>
              </a:lnSpc>
              <a:spcBef>
                <a:spcPts val="551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成员分工与协作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模式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648"/>
              </a:spcBef>
              <a:tabLst/>
            </a:pPr>
            <a:r>
              <a:rPr sz="3300" kern="0" spc="70" baseline="-94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21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21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创新亮点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31165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八大技术创新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1925" y="660752"/>
            <a:ext cx="2095500" cy="611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4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4000" b="1" kern="0" spc="50" dirty="0">
                <a:solidFill>
                  <a:srgbClr val="7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内容大纲</a:t>
            </a:r>
            <a:endParaRPr sz="40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11239541" y="6294511"/>
            <a:ext cx="480059" cy="288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4673660" y="697463"/>
            <a:ext cx="2817495" cy="446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6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81634" algn="l" rtl="0" eaLnBrk="0">
              <a:lnSpc>
                <a:spcPct val="97000"/>
              </a:lnSpc>
              <a:tabLst/>
            </a:pPr>
            <a:r>
              <a:rPr sz="4000" b="1" kern="0" spc="90" dirty="0">
                <a:solidFill>
                  <a:srgbClr val="7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项目团队</a:t>
            </a:r>
            <a:endParaRPr sz="4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779" algn="l" rtl="0" eaLnBrk="0">
              <a:lnSpc>
                <a:spcPct val="96000"/>
              </a:lnSpc>
              <a:spcBef>
                <a:spcPts val="905"/>
              </a:spcBef>
              <a:tabLst/>
            </a:pPr>
            <a:r>
              <a:rPr sz="30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郭文彬</a:t>
            </a:r>
            <a:endParaRPr sz="3000" dirty="0">
              <a:latin typeface="SimHei"/>
              <a:ea typeface="SimHei"/>
              <a:cs typeface="SimHei"/>
            </a:endParaRPr>
          </a:p>
          <a:p>
            <a:pPr marL="15875" algn="l" rtl="0" eaLnBrk="0">
              <a:lnSpc>
                <a:spcPct val="98000"/>
              </a:lnSpc>
              <a:spcBef>
                <a:spcPts val="1147"/>
              </a:spcBef>
              <a:tabLst/>
            </a:pPr>
            <a:r>
              <a:rPr sz="2000" b="1" kern="0" spc="19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31.5%工作占比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70179" indent="-158114" algn="l" rtl="0" eaLnBrk="0">
              <a:lnSpc>
                <a:spcPct val="104000"/>
              </a:lnSpc>
              <a:spcBef>
                <a:spcPts val="1454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·前端架构设计</a:t>
            </a:r>
            <a:r>
              <a:rPr sz="1500" kern="0" spc="-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Vue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3+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Vite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Pinia)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0814" indent="-158114" algn="l" rtl="0" eaLnBrk="0">
              <a:lnSpc>
                <a:spcPct val="107000"/>
              </a:lnSpc>
              <a:spcBef>
                <a:spcPts val="759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·UI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界面设计与实现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(E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lement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Plus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组件库)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70179" indent="-158114" algn="l" rtl="0" eaLnBrk="0">
              <a:lnSpc>
                <a:spcPct val="107000"/>
              </a:lnSpc>
              <a:spcBef>
                <a:spcPts val="499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·路由权限系统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(Vue</a:t>
            </a:r>
            <a:r>
              <a:rPr sz="15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Router+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角色鉴权)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501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·前端组件封装与复用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3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·前后端联调与接口对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844519" y="2488299"/>
            <a:ext cx="3046729" cy="3169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6000"/>
              </a:lnSpc>
              <a:tabLst/>
            </a:pPr>
            <a:r>
              <a:rPr sz="1900" b="1" kern="0" spc="34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37%工作占比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01000"/>
              </a:lnSpc>
              <a:spcBef>
                <a:spcPts val="458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·后端架构设计与实现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Spring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Boot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MyBatis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0814" indent="-139700" algn="l" rtl="0" eaLnBrk="0">
              <a:lnSpc>
                <a:spcPct val="98000"/>
              </a:lnSpc>
              <a:spcBef>
                <a:spcPts val="566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·AI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服务开发与集成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(Flask+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Qwen</a:t>
            </a:r>
            <a:r>
              <a:rPr sz="1800" kern="0" spc="-4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8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多模态)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70179" indent="-158114" algn="l" rtl="0" eaLnBrk="0">
              <a:lnSpc>
                <a:spcPct val="113000"/>
              </a:lnSpc>
              <a:spcBef>
                <a:spcPts val="214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·数据库设计与优化</a:t>
            </a:r>
            <a:r>
              <a:rPr sz="15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(MySQL   8.0+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Redis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7.2)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0814" indent="-139700" algn="l" rtl="0" eaLnBrk="0">
              <a:lnSpc>
                <a:spcPct val="104000"/>
              </a:lnSpc>
              <a:spcBef>
                <a:spcPts val="528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·容器化部署方案</a:t>
            </a:r>
            <a:r>
              <a:rPr sz="15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(Docker</a:t>
            </a:r>
            <a:r>
              <a:rPr sz="1500" kern="0" spc="6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Docker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Compose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+K8s)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70814" indent="-139700" algn="l" rtl="0" eaLnBrk="0">
              <a:lnSpc>
                <a:spcPct val="101000"/>
              </a:lnSpc>
              <a:spcBef>
                <a:spcPts val="2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·监控体系搭建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(Prometh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eus</a:t>
            </a:r>
            <a:r>
              <a:rPr sz="1500" kern="0" spc="2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Grafana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)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3441679" cy="2330417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743980" y="0"/>
            <a:ext cx="3448019" cy="2317729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8350279" y="2475612"/>
            <a:ext cx="2967989" cy="2423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6000"/>
              </a:lnSpc>
              <a:tabLst/>
            </a:pPr>
            <a:r>
              <a:rPr sz="1900" b="1" kern="0" spc="19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31</a:t>
            </a:r>
            <a:r>
              <a:rPr sz="1900" kern="0" spc="-44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19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.5%工作占比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65100" indent="-152400" algn="l" rtl="0" eaLnBrk="0">
              <a:lnSpc>
                <a:spcPct val="102000"/>
              </a:lnSpc>
              <a:spcBef>
                <a:spcPts val="1545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·直播系统实现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SRS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流媒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WebSocket)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0179" indent="-158114" algn="l" rtl="0" eaLnBrk="0">
              <a:lnSpc>
                <a:spcPct val="111000"/>
              </a:lnSpc>
              <a:spcBef>
                <a:spcPts val="581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●在线编程实验环境</a:t>
            </a:r>
            <a:r>
              <a:rPr sz="15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(Piston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Monaco</a:t>
            </a:r>
            <a:r>
              <a:rPr sz="1500" kern="0" spc="4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编辑器)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582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·协同备课系统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OnlyOffice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成)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562"/>
              </a:spcBef>
              <a:tabLst/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·功能测试与性能优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·技术文档编写与维护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742960" y="5965258"/>
            <a:ext cx="4497070" cy="6134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96000"/>
              </a:lnSpc>
              <a:tabLst/>
            </a:pPr>
            <a:r>
              <a:rPr sz="1900" kern="0" spc="40" dirty="0">
                <a:solidFill>
                  <a:srgbClr val="7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协作模式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302"/>
              </a:spcBef>
              <a:tabLst/>
            </a:pPr>
            <a:r>
              <a:rPr sz="1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敏捷开发|代码审查|定期联调|协同文档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8355818" y="1875723"/>
            <a:ext cx="1185544" cy="469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0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梁淇滔</a:t>
            </a:r>
            <a:endParaRPr sz="30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1258559" y="6303152"/>
            <a:ext cx="544194" cy="341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3000"/>
              </a:lnSpc>
              <a:tabLst/>
            </a:pPr>
            <a:r>
              <a:rPr sz="2500" b="1" kern="0" spc="-100" dirty="0">
                <a:solidFill>
                  <a:srgbClr val="302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</a:t>
            </a:r>
            <a:r>
              <a:rPr sz="2500" b="1" kern="0" spc="-100" dirty="0">
                <a:solidFill>
                  <a:srgbClr val="4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2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56" name="rect 56"/>
          <p:cNvSpPr/>
          <p:nvPr/>
        </p:nvSpPr>
        <p:spPr>
          <a:xfrm>
            <a:off x="12679" y="0"/>
            <a:ext cx="2768681" cy="2057400"/>
          </a:xfrm>
          <a:prstGeom prst="rect">
            <a:avLst/>
          </a:prstGeom>
          <a:solidFill>
            <a:srgbClr val="C2EBE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8" name="textbox 58"/>
          <p:cNvSpPr/>
          <p:nvPr/>
        </p:nvSpPr>
        <p:spPr>
          <a:xfrm>
            <a:off x="1333540" y="829680"/>
            <a:ext cx="10027284" cy="1278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17700" algn="l" rtl="0" eaLnBrk="0">
              <a:lnSpc>
                <a:spcPct val="97000"/>
              </a:lnSpc>
              <a:tabLst/>
            </a:pPr>
            <a:r>
              <a:rPr sz="3600" b="1" kern="0" spc="29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市场调研与技术选型(上)</a:t>
            </a:r>
            <a:endParaRPr sz="3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5"/>
              </a:spcBef>
              <a:tabLst/>
            </a:pP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服务：基于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Qwen</a:t>
            </a:r>
            <a:r>
              <a:rPr sz="22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的智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能助手</a:t>
            </a:r>
            <a:r>
              <a:rPr sz="22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实验环境：基于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Piston</a:t>
            </a:r>
            <a:r>
              <a:rPr sz="2200" b="1" kern="0" spc="4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的代码执行引擎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054099" y="3362998"/>
            <a:ext cx="4504054" cy="17576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●中文理解卓越，教育场景适配</a:t>
            </a:r>
            <a:r>
              <a:rPr sz="1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性强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1457"/>
              </a:spcBef>
              <a:tabLst/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●数据安全合规，符合国内政策要求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1581"/>
              </a:spcBef>
              <a:tabLst/>
            </a:pP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●支持对话/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SQL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生成/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PPT</a:t>
            </a:r>
            <a:r>
              <a:rPr sz="19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</a:t>
            </a:r>
            <a:r>
              <a:rPr sz="1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成/图像理解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920" algn="l" rtl="0" eaLnBrk="0">
              <a:lnSpc>
                <a:spcPct val="94000"/>
              </a:lnSpc>
              <a:spcBef>
                <a:spcPts val="5"/>
              </a:spcBef>
              <a:tabLst/>
            </a:pP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技术对比：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Qwen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vs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GPT-4vs</a:t>
            </a:r>
            <a:r>
              <a:rPr sz="20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000" i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文心一言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6781779" y="3393146"/>
            <a:ext cx="4425315" cy="1750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●解决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Judge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0</a:t>
            </a:r>
            <a:r>
              <a:rPr sz="1900" kern="0" spc="-1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macOS</a:t>
            </a:r>
            <a:r>
              <a:rPr sz="1900" kern="0" spc="6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环境兼容性问题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1183"/>
              </a:spcBef>
              <a:tabLst/>
            </a:pPr>
            <a:r>
              <a:rPr sz="1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●支持60+编程语言，容器级安全隔离</a:t>
            </a:r>
            <a:endParaRPr sz="1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4000"/>
              </a:lnSpc>
              <a:spcBef>
                <a:spcPts val="1507"/>
              </a:spcBef>
              <a:tabLst/>
            </a:pP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Docker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一键部署，标准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RESTful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接口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ct val="96000"/>
              </a:lnSpc>
              <a:spcBef>
                <a:spcPts val="4"/>
              </a:spcBef>
              <a:tabLst/>
            </a:pPr>
            <a:r>
              <a:rPr sz="1900" i="1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技术对比：</a:t>
            </a:r>
            <a:r>
              <a:rPr sz="19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Piston</a:t>
            </a: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vs</a:t>
            </a:r>
            <a:r>
              <a:rPr sz="1900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i="1" kern="0" spc="-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Jud</a:t>
            </a:r>
            <a:r>
              <a:rPr sz="1900" i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ge0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i="1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vs</a:t>
            </a:r>
            <a:r>
              <a:rPr sz="1900" kern="0" spc="-1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900" i="1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自建沙箱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64" name="table 64"/>
          <p:cNvGraphicFramePr>
            <a:graphicFrameLocks noGrp="1"/>
          </p:cNvGraphicFramePr>
          <p:nvPr/>
        </p:nvGraphicFramePr>
        <p:xfrm>
          <a:off x="955725" y="5235582"/>
          <a:ext cx="4533265" cy="1117600"/>
        </p:xfrm>
        <a:graphic>
          <a:graphicData uri="http://schemas.openxmlformats.org/drawingml/2006/table">
            <a:tbl>
              <a:tblPr/>
              <a:tblGrid>
                <a:gridCol w="4533265"/>
              </a:tblGrid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96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6" name="table 66"/>
          <p:cNvGraphicFramePr>
            <a:graphicFrameLocks noGrp="1"/>
          </p:cNvGraphicFramePr>
          <p:nvPr/>
        </p:nvGraphicFramePr>
        <p:xfrm>
          <a:off x="6702425" y="5235582"/>
          <a:ext cx="4526915" cy="1117600"/>
        </p:xfrm>
        <a:graphic>
          <a:graphicData uri="http://schemas.openxmlformats.org/drawingml/2006/table">
            <a:tbl>
              <a:tblPr/>
              <a:tblGrid>
                <a:gridCol w="4526915"/>
              </a:tblGrid>
              <a:tr h="314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32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749782"/>
            <a:ext cx="946099" cy="168912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927299" y="2336794"/>
            <a:ext cx="704941" cy="685800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604259" y="2400300"/>
            <a:ext cx="704819" cy="577855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10617261" y="6599028"/>
            <a:ext cx="1491614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800" kern="0" spc="0" baseline="-289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page</a:t>
            </a:r>
            <a:r>
              <a:rPr sz="1100" kern="0" spc="8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-289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1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-289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1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0" baseline="-2893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3000" kern="0" spc="-10" baseline="3472" dirty="0">
                <a:solidFill>
                  <a:srgbClr val="20405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3000" baseline="3472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55660" y="2038334"/>
            <a:ext cx="10693359" cy="3194044"/>
          </a:xfrm>
          <a:prstGeom prst="rect">
            <a:avLst/>
          </a:prstGeom>
        </p:spPr>
      </p:pic>
      <p:sp>
        <p:nvSpPr>
          <p:cNvPr id="78" name="textbox 78"/>
          <p:cNvSpPr/>
          <p:nvPr/>
        </p:nvSpPr>
        <p:spPr>
          <a:xfrm>
            <a:off x="8362959" y="3113393"/>
            <a:ext cx="2811779" cy="1636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8000"/>
              </a:lnSpc>
              <a:tabLst/>
            </a:pPr>
            <a:r>
              <a:rPr sz="1700" kern="0" spc="9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对象存储：基于阿里</a:t>
            </a:r>
            <a:r>
              <a:rPr sz="1700" kern="0" spc="8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</a:t>
            </a:r>
            <a:r>
              <a:rPr sz="1700" kern="0" spc="0" dirty="0">
                <a:solidFill>
                  <a:srgbClr val="F07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OSs</a:t>
            </a:r>
            <a:r>
              <a:rPr sz="1700" kern="0" spc="-10" dirty="0">
                <a:solidFill>
                  <a:srgbClr val="F07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700" kern="0" spc="9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的资源管理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6000"/>
              </a:lnSpc>
              <a:spcBef>
                <a:spcPts val="1431"/>
              </a:spcBef>
              <a:tabLst/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·CDN</a:t>
            </a:r>
            <a:r>
              <a:rPr sz="1500" kern="0" spc="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加速，下载速度提升80%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3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·99.95%高可用，按需付费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7"/>
              </a:spcBef>
              <a:tabLst/>
            </a:pP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5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支持分片上传/断点续传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/自动转码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047760" y="3109054"/>
            <a:ext cx="2817495" cy="1624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9000"/>
              </a:lnSpc>
              <a:tabLst/>
            </a:pPr>
            <a:r>
              <a:rPr sz="1700" kern="0" spc="10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在线文档：基于</a:t>
            </a:r>
            <a:r>
              <a:rPr sz="1700" kern="0" spc="0" dirty="0">
                <a:solidFill>
                  <a:srgbClr val="F07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OnlyOffice</a:t>
            </a:r>
            <a:r>
              <a:rPr sz="1700" kern="0" spc="10" dirty="0">
                <a:solidFill>
                  <a:srgbClr val="F07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700" kern="0" spc="7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的协同编辑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583"/>
              </a:spcBef>
              <a:tabLst/>
            </a:pP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3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完美兼容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Office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格式，私有</a:t>
            </a:r>
            <a:r>
              <a:rPr sz="13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化部署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118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多人实时协作，版本历史管理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开源免费，无用户数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限制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4705359" y="3099817"/>
            <a:ext cx="2758439" cy="1633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10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直播技术：基于</a:t>
            </a:r>
            <a:r>
              <a:rPr sz="1700" kern="0" spc="0" dirty="0">
                <a:solidFill>
                  <a:srgbClr val="F07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SRS</a:t>
            </a:r>
            <a:r>
              <a:rPr sz="1700" kern="0" spc="10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的流媒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451"/>
              </a:spcBef>
              <a:tabLst/>
            </a:pPr>
            <a:r>
              <a:rPr sz="1700" kern="0" spc="6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体服务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397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</a:t>
            </a:r>
            <a:r>
              <a:rPr sz="13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RTMP/WebRTC/H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LS</a:t>
            </a:r>
            <a:r>
              <a:rPr sz="1300" kern="0" spc="1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多协议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995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单台支持数千路并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发流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"/>
              </a:spcBef>
              <a:tabLst/>
            </a:pP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3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开源免费，中文生态完善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247631" y="695016"/>
            <a:ext cx="3514725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200" b="1" kern="0" spc="190" dirty="0">
                <a:solidFill>
                  <a:srgbClr val="6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技术选型依据(下)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11798300" y="6652590"/>
            <a:ext cx="311784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840"/>
              </a:lnSpc>
              <a:tabLst/>
            </a:pPr>
            <a:r>
              <a:rPr sz="1300" kern="0" spc="10" dirty="0">
                <a:solidFill>
                  <a:srgbClr val="209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Y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1390599" y="2679188"/>
            <a:ext cx="2221864" cy="2109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1795" algn="l" rtl="0" eaLnBrk="0">
              <a:lnSpc>
                <a:spcPct val="97000"/>
              </a:lnSpc>
              <a:tabLst/>
            </a:pPr>
            <a:r>
              <a:rPr sz="2400" b="1" kern="0" spc="-1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学习管理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89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课程中心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1118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作业系统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1169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考试系统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6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实验平台(60+语言)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5035518" y="2666501"/>
            <a:ext cx="1595755" cy="1745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400" b="1" kern="0" spc="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互动学习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81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直播课堂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1099"/>
              </a:spcBef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讨论区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1"/>
              </a:spcBef>
              <a:tabLst/>
            </a:pP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助手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rect 94"/>
          <p:cNvSpPr/>
          <p:nvPr/>
        </p:nvSpPr>
        <p:spPr>
          <a:xfrm>
            <a:off x="0" y="4337067"/>
            <a:ext cx="933419" cy="2476492"/>
          </a:xfrm>
          <a:prstGeom prst="rect">
            <a:avLst/>
          </a:prstGeom>
          <a:solidFill>
            <a:srgbClr val="EEF4F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6" name="textbox 96"/>
          <p:cNvSpPr/>
          <p:nvPr/>
        </p:nvSpPr>
        <p:spPr>
          <a:xfrm>
            <a:off x="4166908" y="860849"/>
            <a:ext cx="3879215" cy="636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4200" b="1" kern="0" spc="110" dirty="0">
                <a:solidFill>
                  <a:srgbClr val="5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学生端功能体系</a:t>
            </a:r>
            <a:endParaRPr sz="4200" dirty="0">
              <a:latin typeface="SimHei"/>
              <a:ea typeface="SimHei"/>
              <a:cs typeface="SimHei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8655080" y="2666501"/>
            <a:ext cx="1619885" cy="135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400" b="1" kern="0" spc="8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资源中心</a:t>
            </a:r>
            <a:endParaRPr sz="2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9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481"/>
              </a:spcBef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学习资源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2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个人中心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1353779" y="6377081"/>
            <a:ext cx="480059" cy="288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2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2000"/>
              </a:lnSpc>
              <a:tabLst/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21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8724940" y="4238325"/>
            <a:ext cx="2954020" cy="2258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●资源上传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98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●题库管理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60"/>
              </a:spcBef>
              <a:tabLst/>
            </a:pP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●协同备课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4"/>
              </a:spcBef>
              <a:tabLst/>
            </a:pPr>
            <a:r>
              <a:rPr sz="22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sp>
        <p:nvSpPr>
          <p:cNvPr id="106" name="rect 106"/>
          <p:cNvSpPr/>
          <p:nvPr/>
        </p:nvSpPr>
        <p:spPr>
          <a:xfrm>
            <a:off x="368320" y="3632202"/>
            <a:ext cx="1873178" cy="2921027"/>
          </a:xfrm>
          <a:prstGeom prst="rect">
            <a:avLst/>
          </a:prstGeom>
          <a:solidFill>
            <a:srgbClr val="E5F5F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textbox 108"/>
          <p:cNvSpPr/>
          <p:nvPr/>
        </p:nvSpPr>
        <p:spPr>
          <a:xfrm>
            <a:off x="2000199" y="4238325"/>
            <a:ext cx="1438275" cy="160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●课程管理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83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●作业批改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81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●智能组卷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2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自动评测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5365800" y="4238325"/>
            <a:ext cx="1427480" cy="1617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8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200" kern="0" spc="-7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直播授课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798"/>
              </a:spcBef>
              <a:tabLst/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2200" kern="0" spc="-7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词云分析</a:t>
            </a:r>
            <a:endParaRPr sz="2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60"/>
              </a:spcBef>
              <a:tabLst/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●讨论答疑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·Al</a:t>
            </a:r>
            <a:r>
              <a:rPr sz="2200" kern="0" spc="-5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2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助教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4135268" y="740441"/>
            <a:ext cx="3924300" cy="6515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60" dirty="0">
                <a:solidFill>
                  <a:srgbClr val="6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教师端功能体系</a:t>
            </a:r>
            <a:endParaRPr sz="4300" dirty="0">
              <a:latin typeface="SimHei"/>
              <a:ea typeface="SimHei"/>
              <a:cs typeface="SimHei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902719" y="2781330"/>
            <a:ext cx="1149339" cy="1123888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8939" y="2768574"/>
            <a:ext cx="1079479" cy="1136645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16139" y="2825770"/>
            <a:ext cx="1060460" cy="102870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8685796" y="2167530"/>
            <a:ext cx="1558289" cy="455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8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9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协作模块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5326657" y="2159653"/>
            <a:ext cx="1548130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7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教学互动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980197" y="2159653"/>
            <a:ext cx="1541144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900" b="1" kern="0" spc="6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教学管理</a:t>
            </a:r>
            <a:endParaRPr sz="2900" dirty="0">
              <a:latin typeface="SimHei"/>
              <a:ea typeface="SimHei"/>
              <a:cs typeface="SimHei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11341100" y="6570667"/>
            <a:ext cx="502919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03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2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200" kern="0" spc="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endParaRPr sz="12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30" name="textbox 130"/>
          <p:cNvSpPr/>
          <p:nvPr/>
        </p:nvSpPr>
        <p:spPr>
          <a:xfrm>
            <a:off x="3915565" y="1855952"/>
            <a:ext cx="1143000" cy="433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1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2100" b="1" kern="0" spc="70" dirty="0">
                <a:solidFill>
                  <a:srgbClr val="E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用户管理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03504" algn="l" rtl="0" eaLnBrk="0">
              <a:lnSpc>
                <a:spcPct val="96000"/>
              </a:lnSpc>
              <a:spcBef>
                <a:spcPts val="980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批量导入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03504" algn="l" rtl="0" eaLnBrk="0">
              <a:lnSpc>
                <a:spcPct val="144000"/>
              </a:lnSpc>
              <a:spcBef>
                <a:spcPts val="68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角色分配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注册审核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8000"/>
              </a:lnSpc>
              <a:spcBef>
                <a:spcPts val="636"/>
              </a:spcBef>
              <a:tabLst/>
            </a:pPr>
            <a:r>
              <a:rPr sz="2100" b="1" kern="0" spc="1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监控日</a:t>
            </a:r>
            <a:r>
              <a:rPr sz="2100" b="1" kern="0" spc="10" dirty="0">
                <a:solidFill>
                  <a:srgbClr val="C07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志</a:t>
            </a:r>
            <a:endParaRPr sz="2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87000"/>
              </a:lnSpc>
              <a:spcBef>
                <a:spcPts val="639"/>
              </a:spcBef>
              <a:tabLst/>
            </a:pPr>
            <a:r>
              <a:rPr sz="2100" kern="0" spc="-1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sz="2100" kern="0" spc="-1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edis</a:t>
            </a:r>
            <a:r>
              <a:rPr sz="21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</a:t>
            </a:r>
            <a:r>
              <a:rPr sz="21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41604" algn="l" rtl="0" eaLnBrk="0">
              <a:lnSpc>
                <a:spcPct val="149000"/>
              </a:lnSpc>
              <a:spcBef>
                <a:spcPts val="31"/>
              </a:spcBef>
              <a:tabLst/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操作日志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系统统计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直播监控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7179364" y="1852948"/>
            <a:ext cx="1152525" cy="3535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6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2100" b="1" kern="0" spc="10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系统管理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09854" algn="l" rtl="0" eaLnBrk="0">
              <a:lnSpc>
                <a:spcPct val="85000"/>
              </a:lnSpc>
              <a:spcBef>
                <a:spcPts val="1004"/>
              </a:spcBef>
              <a:tabLst/>
            </a:pP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课程审核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09854" algn="l" rtl="0" eaLnBrk="0">
              <a:lnSpc>
                <a:spcPts val="3149"/>
              </a:lnSpc>
              <a:tabLst/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智能排课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09854" algn="l" rtl="0" eaLnBrk="0">
              <a:lnSpc>
                <a:spcPct val="95000"/>
              </a:lnSpc>
              <a:spcBef>
                <a:spcPts val="1334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选课管理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7000"/>
              </a:lnSpc>
              <a:spcBef>
                <a:spcPts val="640"/>
              </a:spcBef>
              <a:tabLst/>
            </a:pPr>
            <a:r>
              <a:rPr sz="2100" b="1" kern="0" spc="3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公告资源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109854" algn="l" rtl="0" eaLnBrk="0">
              <a:lnSpc>
                <a:spcPct val="143000"/>
              </a:lnSpc>
              <a:spcBef>
                <a:spcPts val="48"/>
              </a:spcBef>
              <a:tabLst/>
            </a:pP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公告管理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资源管理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4146980" y="643767"/>
            <a:ext cx="3877945" cy="563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3700" b="1" kern="0" spc="70" dirty="0">
                <a:solidFill>
                  <a:srgbClr val="6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管理员端功能体系</a:t>
            </a:r>
            <a:endParaRPr sz="3700" dirty="0">
              <a:latin typeface="SimHei"/>
              <a:ea typeface="SimHei"/>
              <a:cs typeface="SimHei"/>
            </a:endParaRPr>
          </a:p>
        </p:txBody>
      </p:sp>
      <p:pic>
        <p:nvPicPr>
          <p:cNvPr id="136" name="picture 1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283939" y="6019815"/>
            <a:ext cx="406358" cy="5016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picture 1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3701824" y="530324"/>
            <a:ext cx="7160894" cy="5612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300" b="1" kern="0" spc="270" dirty="0">
                <a:solidFill>
                  <a:srgbClr val="6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七大核心技术难点(上)</a:t>
            </a:r>
            <a:endParaRPr sz="3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ct val="95000"/>
              </a:lnSpc>
              <a:spcBef>
                <a:spcPts val="640"/>
              </a:spcBef>
              <a:tabLst/>
            </a:pPr>
            <a:r>
              <a:rPr sz="2100" b="1" kern="0" spc="5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难点1:云平台资源虚拟</a:t>
            </a:r>
            <a:r>
              <a:rPr sz="2100" b="1" kern="0" spc="4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化与容器编排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604519" algn="l" rtl="0" eaLnBrk="0">
              <a:lnSpc>
                <a:spcPct val="92000"/>
              </a:lnSpc>
              <a:spcBef>
                <a:spcPts val="539"/>
              </a:spcBef>
              <a:tabLst/>
            </a:pPr>
            <a:r>
              <a:rPr sz="1400" i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项目要求对应：支持虚拟化技</a:t>
            </a:r>
            <a:r>
              <a:rPr sz="1400" i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术，构建虚拟资源组成的资源池，支持集群化部署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488"/>
              </a:spcBef>
              <a:tabLst/>
            </a:pP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·技术挑战：虚拟资源池效果、容器资源隔离、9个微服务编排、服务发现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478790" algn="l" rtl="0" eaLnBrk="0">
              <a:lnSpc>
                <a:spcPct val="91000"/>
              </a:lnSpc>
              <a:spcBef>
                <a:spcPts val="1258"/>
              </a:spcBef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解决方案：</a:t>
            </a:r>
            <a:r>
              <a:rPr sz="16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Docker</a:t>
            </a:r>
            <a:r>
              <a:rPr sz="1600" b="1" kern="0" spc="3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Compose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编排、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K8s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部署架构、服务网格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478790" algn="l" rtl="0" eaLnBrk="0">
              <a:lnSpc>
                <a:spcPct val="95000"/>
              </a:lnSpc>
              <a:spcBef>
                <a:spcPts val="1171"/>
              </a:spcBef>
              <a:tabLst/>
            </a:pPr>
            <a:r>
              <a:rPr sz="1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·技术实现：单机编排、多副本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部署、资源限制、弹性伸缩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80059" algn="l" rtl="0" eaLnBrk="0">
              <a:lnSpc>
                <a:spcPct val="95000"/>
              </a:lnSpc>
              <a:spcBef>
                <a:spcPts val="641"/>
              </a:spcBef>
              <a:tabLst/>
            </a:pPr>
            <a:r>
              <a:rPr sz="2100" b="1" kern="0" spc="30" dirty="0">
                <a:solidFill>
                  <a:srgbClr val="F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难点2:在线实验环境动态创建与资源分配</a:t>
            </a:r>
            <a:endParaRPr sz="2100" dirty="0">
              <a:latin typeface="SimHei"/>
              <a:ea typeface="SimHei"/>
              <a:cs typeface="SimHei"/>
            </a:endParaRPr>
          </a:p>
          <a:p>
            <a:pPr marL="579755" algn="l" rtl="0" eaLnBrk="0">
              <a:lnSpc>
                <a:spcPct val="92000"/>
              </a:lnSpc>
              <a:spcBef>
                <a:spcPts val="673"/>
              </a:spcBef>
              <a:tabLst/>
            </a:pPr>
            <a:r>
              <a:rPr sz="1400" i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项目要求对应：支持学生在线实验实训，</a:t>
            </a:r>
            <a:r>
              <a:rPr sz="1400" i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提供课程实验所需</a:t>
            </a:r>
            <a:r>
              <a:rPr sz="14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i="1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IT</a:t>
            </a:r>
            <a:r>
              <a:rPr sz="1400" kern="0" spc="-3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i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环境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8790" algn="l" rtl="0" eaLnBrk="0">
              <a:lnSpc>
                <a:spcPct val="95000"/>
              </a:lnSpc>
              <a:spcBef>
                <a:spcPts val="487"/>
              </a:spcBef>
              <a:tabLst/>
            </a:pPr>
            <a:r>
              <a:rPr sz="16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技术挑战：支持60+编程语言、跨平台兼容、资源</a:t>
            </a: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隔离、生命周期管理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478790" algn="l" rtl="0" eaLnBrk="0">
              <a:lnSpc>
                <a:spcPct val="95000"/>
              </a:lnSpc>
              <a:spcBef>
                <a:spcPts val="1126"/>
              </a:spcBef>
              <a:tabLst/>
            </a:pP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解决方案：</a:t>
            </a:r>
            <a:r>
              <a:rPr sz="1600" kern="0" spc="-4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Piston</a:t>
            </a:r>
            <a:r>
              <a:rPr sz="16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引擎</a:t>
            </a: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选型、按需创建容器、资源池管理、智能降级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9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84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78790" algn="l" rtl="0" eaLnBrk="0">
              <a:lnSpc>
                <a:spcPct val="95000"/>
              </a:lnSpc>
              <a:tabLst/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技术实现：</a:t>
            </a:r>
            <a:r>
              <a:rPr sz="1600" kern="0" spc="-4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Monaco</a:t>
            </a:r>
            <a:r>
              <a:rPr sz="1600" b="1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编辑器、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RESTful</a:t>
            </a:r>
            <a:r>
              <a:rPr sz="1600" b="1" kern="0" spc="3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API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、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容器</a:t>
            </a: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级隔离、实时监控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1955820" y="1677332"/>
            <a:ext cx="347345" cy="1400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58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docker</a:t>
            </a: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188"/>
              </a:spcBef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ServkceA</a:t>
            </a:r>
            <a:endParaRPr sz="6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81"/>
              </a:spcBef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spcBef>
                <a:spcPts val="7"/>
              </a:spcBef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Servicec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1117620" y="2743233"/>
            <a:ext cx="333375" cy="340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2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algn="l" rtl="0" eaLnBrk="0">
              <a:lnSpc>
                <a:spcPct val="81000"/>
              </a:lnSpc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ServiceA</a:t>
            </a:r>
            <a:endParaRPr sz="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Servicec</a:t>
            </a:r>
            <a:endParaRPr sz="6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10915599" y="6520992"/>
            <a:ext cx="33464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9/18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picture 1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50" name="textbox 150"/>
          <p:cNvSpPr/>
          <p:nvPr/>
        </p:nvSpPr>
        <p:spPr>
          <a:xfrm>
            <a:off x="780999" y="2633479"/>
            <a:ext cx="10539094" cy="3641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ts val="1924"/>
              </a:lnSpc>
              <a:tabLst/>
            </a:pPr>
            <a:r>
              <a:rPr sz="2400" b="1" kern="0" spc="80" baseline="723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项目要求对应：</a:t>
            </a:r>
            <a:r>
              <a:rPr sz="2400" kern="0" spc="80" baseline="723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涵盖</a:t>
            </a:r>
            <a:r>
              <a:rPr sz="2400" kern="0" spc="70" baseline="7233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用户管理、支持不同专业的灵活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2400" b="1" kern="0" spc="70" baseline="-578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项目要求对应：</a:t>
            </a:r>
            <a:r>
              <a:rPr sz="2400" kern="0" spc="70" baseline="-578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支持专业课程资源的集中管理(文档</a:t>
            </a:r>
            <a:endParaRPr sz="2400" baseline="-5788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794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性、课程资源集中管理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课件、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视频、实验资源等)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6000"/>
              </a:lnSpc>
              <a:spcBef>
                <a:spcPts val="758"/>
              </a:spcBef>
              <a:tabLst/>
            </a:pPr>
            <a:r>
              <a:rPr sz="16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技术挑战：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技术挑战：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ct val="98000"/>
              </a:lnSpc>
              <a:spcBef>
                <a:spcPts val="867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三种角色权限交叉复杂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大文件上传(视频课件超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过500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MB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r>
              <a:rPr sz="1600" kern="0" spc="6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的稳定性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ct val="95000"/>
              </a:lnSpc>
              <a:spcBef>
                <a:spcPts val="727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·跨专业、跨课程的资源访问控制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多种文件类型的统一存储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ts val="1983"/>
              </a:lnSpc>
              <a:spcBef>
                <a:spcPts val="917"/>
              </a:spcBef>
              <a:tabLst/>
            </a:pPr>
            <a:r>
              <a:rPr sz="2400" kern="0" spc="20" baseline="-130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6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20" baseline="-130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选课后动态权限分配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资源访问权限控制(选课学生才能下载)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5240" indent="123825" algn="l" rtl="0" eaLnBrk="0">
              <a:lnSpc>
                <a:spcPct val="128000"/>
              </a:lnSpc>
              <a:spcBef>
                <a:spcPts val="580"/>
              </a:spcBef>
              <a:tabLst/>
            </a:pPr>
            <a:r>
              <a:rPr sz="2400" kern="0" spc="20" baseline="-4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·前后端双重鉴权确保安全性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2400" kern="0" spc="20" baseline="2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20" baseline="2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高并发下载的</a:t>
            </a:r>
            <a:r>
              <a:rPr sz="2400" kern="0" spc="10" baseline="2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性能与成本优化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2400" b="1" kern="0" spc="10" baseline="-4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解决方案：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        </a:t>
            </a:r>
            <a:r>
              <a:rPr sz="2400" b="1" kern="0" spc="0" baseline="43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解决方案：</a:t>
            </a:r>
            <a:endParaRPr sz="2400" baseline="4340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ts val="1940"/>
              </a:lnSpc>
              <a:spcBef>
                <a:spcPts val="602"/>
              </a:spcBef>
              <a:tabLst/>
            </a:pPr>
            <a:r>
              <a:rPr sz="2400" kern="0" spc="11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2400" kern="0" spc="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Spring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2400" kern="0" spc="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Security</a:t>
            </a:r>
            <a:r>
              <a:rPr sz="2400" kern="0" spc="110" baseline="1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框架：</a:t>
            </a:r>
            <a:r>
              <a:rPr sz="2400" kern="0" spc="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JWT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2400" kern="0" spc="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Token</a:t>
            </a:r>
            <a:r>
              <a:rPr sz="2400" kern="0" spc="110" baseline="10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2400" kern="0" spc="110" baseline="1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注解鉴权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400" kern="0" spc="110" baseline="869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110" baseline="869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阿里云</a:t>
            </a:r>
            <a:r>
              <a:rPr sz="2400" kern="0" spc="0" baseline="869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OSS</a:t>
            </a:r>
            <a:r>
              <a:rPr sz="2400" kern="0" spc="110" baseline="869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500" kern="0" spc="5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110" baseline="869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分片上传+</a:t>
            </a:r>
            <a:r>
              <a:rPr sz="15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0" baseline="8695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CDN</a:t>
            </a:r>
            <a:r>
              <a:rPr sz="15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2400" kern="0" spc="110" baseline="869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加速(提升80%)</a:t>
            </a:r>
            <a:endParaRPr sz="2400" baseline="8695" dirty="0">
              <a:latin typeface="SimHei"/>
              <a:ea typeface="SimHei"/>
              <a:cs typeface="SimHei"/>
            </a:endParaRPr>
          </a:p>
          <a:p>
            <a:pPr marL="139700" algn="l" rtl="0" eaLnBrk="0">
              <a:lnSpc>
                <a:spcPts val="1933"/>
              </a:lnSpc>
              <a:spcBef>
                <a:spcPts val="777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·细粒度控制：路由级/功能级/数据级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/字段级权限</a:t>
            </a:r>
            <a:r>
              <a:rPr sz="1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资源元数据管理：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MySQL</a:t>
            </a:r>
            <a:r>
              <a:rPr sz="1600" kern="0" spc="4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索引+本地备份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39700" algn="l" rtl="0" eaLnBrk="0">
              <a:lnSpc>
                <a:spcPts val="1898"/>
              </a:lnSpc>
              <a:spcBef>
                <a:spcPts val="1"/>
              </a:spcBef>
              <a:tabLst/>
            </a:pPr>
            <a:r>
              <a:rPr sz="2400" kern="0" spc="70" baseline="-355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70" baseline="-355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前端守卫：动态菜单+权限指令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</a:t>
            </a:r>
            <a:r>
              <a:rPr sz="2400" kern="0" spc="60" baseline="512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kern="0" spc="60" baseline="5126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访问控制：用户角色校验+预签名</a:t>
            </a:r>
            <a:r>
              <a:rPr sz="2400" kern="0" spc="0" baseline="5126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URL</a:t>
            </a:r>
            <a:endParaRPr sz="2400" baseline="5126" dirty="0">
              <a:latin typeface="Arial"/>
              <a:ea typeface="Arial"/>
              <a:cs typeface="Arial"/>
            </a:endParaRPr>
          </a:p>
        </p:txBody>
      </p:sp>
      <p:pic>
        <p:nvPicPr>
          <p:cNvPr id="152" name="picture 1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0"/>
            <a:ext cx="3162360" cy="201296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784631" y="2068466"/>
            <a:ext cx="10056494" cy="317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3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000" b="1" kern="0" spc="7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难点3:多租户权限隔离与细粒度访问控制</a:t>
            </a:r>
            <a:r>
              <a:rPr sz="2000" kern="0" spc="1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2000" b="1" kern="0" spc="7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难点4:教学资源</a:t>
            </a:r>
            <a:r>
              <a:rPr sz="2000" b="1" kern="0" spc="6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统一管理与智能分发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4026098" y="639061"/>
            <a:ext cx="3956684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600" b="1" kern="0" spc="220" dirty="0">
                <a:solidFill>
                  <a:srgbClr val="5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技术难点突破(中)</a:t>
            </a:r>
            <a:endParaRPr sz="3600" dirty="0">
              <a:latin typeface="SimHei"/>
              <a:ea typeface="SimHei"/>
              <a:cs typeface="SimHei"/>
            </a:endParaRPr>
          </a:p>
        </p:txBody>
      </p:sp>
      <p:pic>
        <p:nvPicPr>
          <p:cNvPr id="158" name="picture 15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91361" y="1390665"/>
            <a:ext cx="476218" cy="463532"/>
          </a:xfrm>
          <a:prstGeom prst="rect">
            <a:avLst/>
          </a:prstGeom>
        </p:spPr>
      </p:pic>
      <p:sp>
        <p:nvSpPr>
          <p:cNvPr id="160" name="textbox 160"/>
          <p:cNvSpPr/>
          <p:nvPr/>
        </p:nvSpPr>
        <p:spPr>
          <a:xfrm>
            <a:off x="11468141" y="6504655"/>
            <a:ext cx="382270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3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10/18</a:t>
            </a:r>
            <a:endParaRPr sz="13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picture 1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64" name="textbox 164"/>
          <p:cNvSpPr/>
          <p:nvPr/>
        </p:nvSpPr>
        <p:spPr>
          <a:xfrm>
            <a:off x="8400998" y="2231099"/>
            <a:ext cx="3098800" cy="28886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86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5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跨浏览器兼容与前端性能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158"/>
              </a:spcBef>
              <a:tabLst/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支持主流浏览器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222250" algn="l" rtl="0" eaLnBrk="0">
              <a:lnSpc>
                <a:spcPct val="81000"/>
              </a:lnSpc>
              <a:spcBef>
                <a:spcPts val="1007"/>
              </a:spcBef>
              <a:tabLst/>
            </a:pP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(Chrome/Fir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efox/Safari/Edge)</a:t>
            </a:r>
            <a:endParaRPr sz="16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108"/>
              </a:spcBef>
              <a:tabLst/>
            </a:pP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虚拟滚动+路由懒加载+图片懒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71450" indent="-158750" algn="l" rtl="0" eaLnBrk="0">
              <a:lnSpc>
                <a:spcPct val="114000"/>
              </a:lnSpc>
              <a:spcBef>
                <a:spcPts val="1316"/>
              </a:spcBef>
              <a:tabLst/>
            </a:pP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代码分割+</a:t>
            </a:r>
            <a:r>
              <a:rPr sz="16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Tree</a:t>
            </a:r>
            <a:r>
              <a:rPr sz="1600" kern="0" spc="2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shaking</a:t>
            </a:r>
            <a:r>
              <a:rPr sz="1600" kern="0" spc="3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Gzip</a:t>
            </a:r>
            <a:r>
              <a:rPr sz="1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压缩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Lighthouse</a:t>
            </a:r>
            <a:r>
              <a:rPr sz="1600" kern="0" spc="-3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性能评分+真机测试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647740" y="2231099"/>
            <a:ext cx="3199764" cy="2494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71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3000"/>
              </a:lnSpc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排课系统的冲突检测与并发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控制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76529" indent="-164464" algn="l" rtl="0" eaLnBrk="0">
              <a:lnSpc>
                <a:spcPct val="115000"/>
              </a:lnSpc>
              <a:spcBef>
                <a:spcPts val="1264"/>
              </a:spcBef>
              <a:tabLst/>
            </a:pP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时间冲突检测(教师/教室不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能同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时排课)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1077"/>
              </a:spcBef>
              <a:tabLst/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高并发选课的数据一致性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保证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030"/>
              </a:spcBef>
              <a:tabLst/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Redis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分布式锁+</a:t>
            </a:r>
            <a:r>
              <a:rPr sz="1600" kern="0" spc="-3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Redisson</a:t>
            </a:r>
            <a:r>
              <a:rPr sz="1600" kern="0" spc="-4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看门狗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9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Spring</a:t>
            </a:r>
            <a:r>
              <a:rPr sz="1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事务+数据库乐观锁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4495779" y="2228418"/>
            <a:ext cx="3157854" cy="24688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6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8000"/>
              </a:lnSpc>
              <a:tabLst/>
            </a:pPr>
            <a:r>
              <a:rPr sz="20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可视化监控与运维管理平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台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92"/>
              </a:spcBef>
              <a:tabLst/>
            </a:pP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实时监控9个微服务运行状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态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64464" indent="-151764" algn="l" rtl="0" eaLnBrk="0">
              <a:lnSpc>
                <a:spcPct val="117000"/>
              </a:lnSpc>
              <a:spcBef>
                <a:spcPts val="1058"/>
              </a:spcBef>
              <a:tabLst/>
            </a:pP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资源使用率统计</a:t>
            </a:r>
            <a:r>
              <a:rPr sz="16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(CPU/</a:t>
            </a:r>
            <a:r>
              <a:rPr sz="1600" kern="0" spc="30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存/磁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盘/网络)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544"/>
              </a:spcBef>
              <a:tabLst/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·Prometheus +Grafana</a:t>
            </a: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监控体系</a:t>
            </a:r>
            <a:endParaRPr sz="2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4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自定义业务指标与告警规则配置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70" name="picture 1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048780" y="0"/>
            <a:ext cx="3143219" cy="2089152"/>
          </a:xfrm>
          <a:prstGeom prst="rect">
            <a:avLst/>
          </a:prstGeom>
        </p:spPr>
      </p:pic>
      <p:sp>
        <p:nvSpPr>
          <p:cNvPr id="172" name="textbox 172"/>
          <p:cNvSpPr/>
          <p:nvPr/>
        </p:nvSpPr>
        <p:spPr>
          <a:xfrm>
            <a:off x="4019758" y="670745"/>
            <a:ext cx="3969384" cy="551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1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3600" b="1" kern="0" spc="23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技术难点突破(下)</a:t>
            </a:r>
            <a:endParaRPr sz="3600" dirty="0">
              <a:latin typeface="SimHei"/>
              <a:ea typeface="SimHei"/>
              <a:cs typeface="SimHei"/>
            </a:endParaRPr>
          </a:p>
        </p:txBody>
      </p:sp>
      <p:pic>
        <p:nvPicPr>
          <p:cNvPr id="174" name="picture 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99259" y="5181630"/>
            <a:ext cx="1047780" cy="882624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572780" y="5194317"/>
            <a:ext cx="1060460" cy="857250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965460" y="5187939"/>
            <a:ext cx="927079" cy="895380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514818" y="1581180"/>
            <a:ext cx="450860" cy="444466"/>
            <a:chOff x="0" y="0"/>
            <a:chExt cx="450860" cy="444466"/>
          </a:xfrm>
        </p:grpSpPr>
        <p:pic>
          <p:nvPicPr>
            <p:cNvPr id="180" name="picture 18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450860" cy="444466"/>
            </a:xfrm>
            <a:prstGeom prst="rect">
              <a:avLst/>
            </a:prstGeom>
          </p:spPr>
        </p:pic>
        <p:sp>
          <p:nvSpPr>
            <p:cNvPr id="182" name="textbox 182"/>
            <p:cNvSpPr/>
            <p:nvPr/>
          </p:nvSpPr>
          <p:spPr>
            <a:xfrm>
              <a:off x="-12700" y="-12700"/>
              <a:ext cx="476884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6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2400" algn="l" rtl="0" eaLnBrk="0">
                <a:lnSpc>
                  <a:spcPct val="79000"/>
                </a:lnSpc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66780" y="1581180"/>
            <a:ext cx="450860" cy="444466"/>
            <a:chOff x="0" y="0"/>
            <a:chExt cx="450860" cy="444466"/>
          </a:xfrm>
        </p:grpSpPr>
        <p:pic>
          <p:nvPicPr>
            <p:cNvPr id="184" name="picture 18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450860" cy="444466"/>
            </a:xfrm>
            <a:prstGeom prst="rect">
              <a:avLst/>
            </a:prstGeom>
          </p:spPr>
        </p:pic>
        <p:sp>
          <p:nvSpPr>
            <p:cNvPr id="186" name="textbox 186"/>
            <p:cNvSpPr/>
            <p:nvPr/>
          </p:nvSpPr>
          <p:spPr>
            <a:xfrm>
              <a:off x="-12700" y="-12700"/>
              <a:ext cx="476884" cy="5283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868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70814" algn="l" rtl="0" eaLnBrk="0">
                <a:lnSpc>
                  <a:spcPct val="77000"/>
                </a:lnSpc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5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8432840" y="1581180"/>
            <a:ext cx="438058" cy="444466"/>
            <a:chOff x="0" y="0"/>
            <a:chExt cx="438058" cy="444466"/>
          </a:xfrm>
        </p:grpSpPr>
        <p:pic>
          <p:nvPicPr>
            <p:cNvPr id="188" name="picture 18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438058" cy="444466"/>
            </a:xfrm>
            <a:prstGeom prst="rect">
              <a:avLst/>
            </a:prstGeom>
          </p:spPr>
        </p:pic>
        <p:sp>
          <p:nvSpPr>
            <p:cNvPr id="190" name="textbox 190"/>
            <p:cNvSpPr/>
            <p:nvPr/>
          </p:nvSpPr>
          <p:spPr>
            <a:xfrm>
              <a:off x="-12700" y="-12700"/>
              <a:ext cx="463550" cy="5276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1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2400" algn="l" rtl="0" eaLnBrk="0">
                <a:lnSpc>
                  <a:spcPct val="77000"/>
                </a:lnSpc>
                <a:tabLst/>
              </a:pPr>
              <a:r>
                <a:rPr sz="20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7</a:t>
              </a:r>
              <a:endParaRPr sz="20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sp>
        <p:nvSpPr>
          <p:cNvPr id="192" name="textbox 192"/>
          <p:cNvSpPr/>
          <p:nvPr/>
        </p:nvSpPr>
        <p:spPr>
          <a:xfrm>
            <a:off x="11474480" y="6477025"/>
            <a:ext cx="597534" cy="344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1000"/>
              </a:lnSpc>
              <a:spcBef>
                <a:spcPts val="4"/>
              </a:spcBef>
              <a:tabLst/>
            </a:pPr>
            <a:r>
              <a:rPr sz="16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194" name="picture 19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1487180" y="6489725"/>
            <a:ext cx="215920" cy="273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498609" y="3134024"/>
            <a:ext cx="3551554" cy="2943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tabLst/>
            </a:pPr>
            <a:r>
              <a:rPr sz="1800" b="1" kern="0" spc="8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创新1:智能</a:t>
            </a:r>
            <a:r>
              <a:rPr sz="1800" b="1" kern="0" spc="0" dirty="0">
                <a:solidFill>
                  <a:srgbClr val="E08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800" b="1" kern="0" spc="80" dirty="0">
                <a:solidFill>
                  <a:srgbClr val="E08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kern="0" spc="0" dirty="0">
                <a:solidFill>
                  <a:srgbClr val="E08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Agent</a:t>
            </a:r>
            <a:r>
              <a:rPr sz="1800" b="1" kern="0" spc="8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数据库代理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96000"/>
              </a:lnSpc>
              <a:spcBef>
                <a:spcPts val="42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·自然语言转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SQL: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用户输入转化为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SQL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查询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99389" indent="-139700" algn="l" rtl="0" eaLnBrk="0">
              <a:lnSpc>
                <a:spcPct val="114000"/>
              </a:lnSpc>
              <a:spcBef>
                <a:spcPts val="630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指令式管理：无需编写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SQL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的对话式数据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查询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9689" algn="l" rtl="0" eaLnBrk="0">
              <a:lnSpc>
                <a:spcPct val="96000"/>
              </a:lnSpc>
              <a:spcBef>
                <a:spcPts val="728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安全沙箱：仅允许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SELECT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查询操作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369060" indent="-1309369" algn="l" rtl="0" eaLnBrk="0">
              <a:lnSpc>
                <a:spcPct val="125000"/>
              </a:lnSpc>
              <a:spcBef>
                <a:spcPts val="689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角色隔离：根据用户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角色限制查询范围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400" i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应用场景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9689" algn="l" rtl="0" eaLnBrk="0">
              <a:lnSpc>
                <a:spcPct val="95000"/>
              </a:lnSpc>
              <a:spcBef>
                <a:spcPts val="654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4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学生查询作业与成绩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9689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·教师统计班级数据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4527600" y="3153844"/>
            <a:ext cx="3265170" cy="2936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9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1125" algn="l" rtl="0" eaLnBrk="0">
              <a:lnSpc>
                <a:spcPct val="95000"/>
              </a:lnSpc>
              <a:tabLst/>
            </a:pPr>
            <a:r>
              <a:rPr sz="1800" b="1" kern="0" spc="150" dirty="0">
                <a:solidFill>
                  <a:srgbClr val="E07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创新2:实时直播+智能互动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4779" indent="-132714" algn="l" rtl="0" eaLnBrk="0">
              <a:lnSpc>
                <a:spcPct val="108000"/>
              </a:lnSpc>
              <a:spcBef>
                <a:spcPts val="429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双端直播：教师推流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(RTMP)+</a:t>
            </a:r>
            <a:r>
              <a:rPr sz="1400" kern="0" spc="1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学生观看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(HLS)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95000"/>
              </a:lnSpc>
              <a:spcBef>
                <a:spcPts val="818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实时聊天：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WebSocket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长连接即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时消息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54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词云分析：自动提取高频关键词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04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智能反馈：学生注意力与难点分析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45869" algn="l" rtl="0" eaLnBrk="0">
              <a:lnSpc>
                <a:spcPct val="95000"/>
              </a:lnSpc>
              <a:spcBef>
                <a:spcPts val="1004"/>
              </a:spcBef>
              <a:tabLst/>
            </a:pPr>
            <a:r>
              <a:rPr sz="1400" i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教学价值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54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实时了解学生理解情况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自动记录课堂重点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8496340" y="3152015"/>
            <a:ext cx="2933064" cy="292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975" algn="l" rtl="0" eaLnBrk="0">
              <a:lnSpc>
                <a:spcPct val="95000"/>
              </a:lnSpc>
              <a:tabLst/>
            </a:pPr>
            <a:r>
              <a:rPr sz="1800" b="1" kern="0" spc="6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创新3:多语言在线编程环境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421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87种语言支持：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覆盖主流编程语言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654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零部署成本：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浏览器直接运行代码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5000"/>
              </a:lnSpc>
              <a:spcBef>
                <a:spcPts val="693"/>
              </a:spcBef>
              <a:tabLst/>
            </a:pP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4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智能降级：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多层次执行保障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5000"/>
              </a:lnSpc>
              <a:spcBef>
                <a:spcPts val="665"/>
              </a:spcBef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教学友好：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代码模板与语法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高亮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76019" algn="l" rtl="0" eaLnBrk="0">
              <a:lnSpc>
                <a:spcPct val="95000"/>
              </a:lnSpc>
              <a:spcBef>
                <a:spcPts val="420"/>
              </a:spcBef>
              <a:tabLst/>
            </a:pPr>
            <a:r>
              <a:rPr sz="1400" i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应用场景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54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●课堂演示算法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·在线提交编程作业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51299" y="1473167"/>
            <a:ext cx="3289401" cy="1314472"/>
          </a:xfrm>
          <a:prstGeom prst="rect">
            <a:avLst/>
          </a:prstGeom>
        </p:spPr>
      </p:pic>
      <p:pic>
        <p:nvPicPr>
          <p:cNvPr id="206" name="picture 2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01020" y="1485923"/>
            <a:ext cx="3149681" cy="1308094"/>
          </a:xfrm>
          <a:prstGeom prst="rect">
            <a:avLst/>
          </a:prstGeom>
        </p:spPr>
      </p:pic>
      <p:pic>
        <p:nvPicPr>
          <p:cNvPr id="208" name="picture 2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15939" y="1511297"/>
            <a:ext cx="3187720" cy="1276342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717072" y="629886"/>
            <a:ext cx="5203190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200" b="1" kern="0" spc="160" dirty="0">
                <a:solidFill>
                  <a:srgbClr val="6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系统创新点与技术突破(一)</a:t>
            </a:r>
            <a:endParaRPr sz="3200" dirty="0">
              <a:latin typeface="SimHei"/>
              <a:ea typeface="SimHei"/>
              <a:cs typeface="SimHei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11423639" y="6400291"/>
            <a:ext cx="40957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12/18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picture 2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4100" y="4095734"/>
            <a:ext cx="463539" cy="450844"/>
          </a:xfrm>
          <a:prstGeom prst="rect">
            <a:avLst/>
          </a:prstGeom>
        </p:spPr>
      </p:pic>
      <p:sp>
        <p:nvSpPr>
          <p:cNvPr id="218" name="textbox 218"/>
          <p:cNvSpPr/>
          <p:nvPr/>
        </p:nvSpPr>
        <p:spPr>
          <a:xfrm>
            <a:off x="641400" y="680704"/>
            <a:ext cx="5253990" cy="5804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5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3200" b="1" kern="0" spc="40" dirty="0">
                <a:solidFill>
                  <a:srgbClr val="6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系统创新点与技术突破</a:t>
            </a:r>
            <a:r>
              <a:rPr sz="3200" kern="0" spc="-320" dirty="0">
                <a:solidFill>
                  <a:srgbClr val="6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200" b="1" kern="0" spc="4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(二)</a:t>
            </a:r>
            <a:endParaRPr sz="3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1000"/>
              </a:lnSpc>
              <a:spcBef>
                <a:spcPts val="608"/>
              </a:spcBef>
              <a:tabLst>
                <a:tab pos="593725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创新4:</a:t>
            </a:r>
            <a:r>
              <a:rPr sz="2000" kern="0" spc="-2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OnlyOffice</a:t>
            </a:r>
            <a:r>
              <a:rPr sz="20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在线协同备课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589915" algn="l" rtl="0" eaLnBrk="0">
              <a:lnSpc>
                <a:spcPct val="95000"/>
              </a:lnSpc>
              <a:spcBef>
                <a:spcPts val="1531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多人协同：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多位教师同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时编辑同一份课件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89915" algn="l" rtl="0" eaLnBrk="0">
              <a:lnSpc>
                <a:spcPct val="92000"/>
              </a:lnSpc>
              <a:spcBef>
                <a:spcPts val="449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实时同步：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编辑内容实时同步，无需手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动保存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89915" algn="l" rtl="0" eaLnBrk="0">
              <a:lnSpc>
                <a:spcPct val="92000"/>
              </a:lnSpc>
              <a:spcBef>
                <a:spcPts val="504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版本管理：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自动保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存历史版本，支持回溯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92455" indent="-2540" algn="l" rtl="0" eaLnBrk="0">
              <a:lnSpc>
                <a:spcPct val="123000"/>
              </a:lnSpc>
              <a:spcBef>
                <a:spcPts val="518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权限控制：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教师可编辑，学生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只读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教学场景：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5000"/>
              </a:lnSpc>
              <a:spcBef>
                <a:spcPts val="374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·集体备课：教研组共同编写教学大纲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5000"/>
              </a:lnSpc>
              <a:spcBef>
                <a:spcPts val="404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·课件制作：多人协作制作精美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件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5000"/>
              </a:lnSpc>
              <a:spcBef>
                <a:spcPts val="354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资源共享：优质课件全校共享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0" algn="l" rtl="0" eaLnBrk="0">
              <a:lnSpc>
                <a:spcPct val="95000"/>
              </a:lnSpc>
              <a:spcBef>
                <a:spcPts val="601"/>
              </a:spcBef>
              <a:tabLst/>
            </a:pPr>
            <a:r>
              <a:rPr sz="3000" kern="0" spc="50" baseline="-8681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900" kern="0" spc="5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0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创新5:邮箱验证码登录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570865" algn="l" rtl="0" eaLnBrk="0">
              <a:lnSpc>
                <a:spcPct val="92000"/>
              </a:lnSpc>
              <a:spcBef>
                <a:spcPts val="1355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无密码登录：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邮箱验证码，安全便捷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70865" algn="l" rtl="0" eaLnBrk="0">
              <a:lnSpc>
                <a:spcPct val="95000"/>
              </a:lnSpc>
              <a:spcBef>
                <a:spcPts val="560"/>
              </a:spcBef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双重认证：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支持密码登录+验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证码登录两种方式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91819" indent="-20954" algn="l" rtl="0" eaLnBrk="0">
              <a:lnSpc>
                <a:spcPct val="125000"/>
              </a:lnSpc>
              <a:spcBef>
                <a:spcPts val="456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防刷机制：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限制验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证码发送频率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技术实现：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2000"/>
              </a:lnSpc>
              <a:spcBef>
                <a:spcPts val="397"/>
              </a:spcBef>
              <a:tabLst/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·Spring    Boot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l: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发送邮件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5000"/>
              </a:lnSpc>
              <a:spcBef>
                <a:spcPts val="421"/>
              </a:spcBef>
              <a:tabLst/>
            </a:pP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Redis</a:t>
            </a:r>
            <a:r>
              <a:rPr sz="14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4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缓存：存储验证码(有效期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5分钟)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672465" algn="l" rtl="0" eaLnBrk="0">
              <a:lnSpc>
                <a:spcPct val="96000"/>
              </a:lnSpc>
              <a:spcBef>
                <a:spcPts val="198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正则验证：邮箱格式校验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20" name="picture 2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54100" y="1301717"/>
            <a:ext cx="463539" cy="457222"/>
          </a:xfrm>
          <a:prstGeom prst="rect">
            <a:avLst/>
          </a:prstGeom>
        </p:spPr>
      </p:pic>
      <p:pic>
        <p:nvPicPr>
          <p:cNvPr id="222" name="picture 2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92900" y="1295407"/>
            <a:ext cx="469879" cy="463532"/>
          </a:xfrm>
          <a:prstGeom prst="rect">
            <a:avLst/>
          </a:prstGeom>
        </p:spPr>
      </p:pic>
      <p:sp>
        <p:nvSpPr>
          <p:cNvPr id="224" name="textbox 224"/>
          <p:cNvSpPr/>
          <p:nvPr/>
        </p:nvSpPr>
        <p:spPr>
          <a:xfrm>
            <a:off x="6432600" y="1395422"/>
            <a:ext cx="4458334" cy="12312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4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000" kern="0" spc="70" baseline="-10417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</a:t>
            </a:r>
            <a:r>
              <a:rPr sz="1900" kern="0" spc="7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创新5:邮箱验证码登录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469900" algn="l" rtl="0" eaLnBrk="0">
              <a:lnSpc>
                <a:spcPct val="92000"/>
              </a:lnSpc>
              <a:spcBef>
                <a:spcPts val="1373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2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无密码登录：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邮箱验证码，安全便捷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610"/>
              </a:spcBef>
              <a:tabLst/>
            </a:pP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双重认证：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支持密码登录+验</a:t>
            </a:r>
            <a:r>
              <a:rPr sz="1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证码登录两种方式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699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防刷机制：</a:t>
            </a: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限制验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证码发送频率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26" name="picture 2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299240" y="4095734"/>
            <a:ext cx="463539" cy="457222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6426139" y="4195749"/>
            <a:ext cx="3352165" cy="1228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86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     </a:t>
            </a:r>
            <a:r>
              <a:rPr sz="20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创新6:服务器对象存储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520700" algn="l" rtl="0" eaLnBrk="0">
              <a:lnSpc>
                <a:spcPct val="107000"/>
              </a:lnSpc>
              <a:spcBef>
                <a:spcPts val="1406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CDN</a:t>
            </a:r>
            <a:r>
              <a:rPr sz="1400" kern="0" spc="7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加速，下载速度提升80%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4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·99.95%高可用，按需付费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支持分片上传/断点续传/自动转码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30" name="picture 2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090099" y="2686073"/>
            <a:ext cx="1390741" cy="761992"/>
          </a:xfrm>
          <a:prstGeom prst="rect">
            <a:avLst/>
          </a:prstGeom>
        </p:spPr>
      </p:pic>
      <p:sp>
        <p:nvSpPr>
          <p:cNvPr id="232" name="textbox 232"/>
          <p:cNvSpPr/>
          <p:nvPr/>
        </p:nvSpPr>
        <p:spPr>
          <a:xfrm>
            <a:off x="6892342" y="2772626"/>
            <a:ext cx="3322954" cy="9817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95"/>
              </a:lnSpc>
              <a:tabLst/>
            </a:pPr>
            <a:r>
              <a:rPr sz="13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技术实现：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53975" algn="l" rtl="0" eaLnBrk="0">
              <a:lnSpc>
                <a:spcPct val="95000"/>
              </a:lnSpc>
              <a:spcBef>
                <a:spcPts val="299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Spring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Boot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Mail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发送邮件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53975" algn="l" rtl="0" eaLnBrk="0">
              <a:lnSpc>
                <a:spcPct val="95000"/>
              </a:lnSpc>
              <a:spcBef>
                <a:spcPts val="468"/>
              </a:spcBef>
              <a:tabLst/>
            </a:pP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Redis</a:t>
            </a:r>
            <a:r>
              <a:rPr sz="1400" kern="0" spc="-4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缓存：存储验证码(有效期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5分钟)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3975" algn="l" rtl="0" eaLnBrk="0">
              <a:lnSpc>
                <a:spcPct val="96000"/>
              </a:lnSpc>
              <a:spcBef>
                <a:spcPts val="248"/>
              </a:spcBef>
              <a:tabLst/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400" kern="0" spc="-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正则验证：邮箱格式校验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147280" y="4756160"/>
            <a:ext cx="1270040" cy="1333469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743418" y="2565372"/>
            <a:ext cx="1200180" cy="1143022"/>
          </a:xfrm>
          <a:prstGeom prst="rect">
            <a:avLst/>
          </a:prstGeom>
        </p:spPr>
      </p:pic>
      <p:pic>
        <p:nvPicPr>
          <p:cNvPr id="238" name="picture 2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724400" y="5245067"/>
            <a:ext cx="1225539" cy="717552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0833058" y="6501927"/>
            <a:ext cx="40957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96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13/18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242"/>
          <p:cNvSpPr/>
          <p:nvPr/>
        </p:nvSpPr>
        <p:spPr>
          <a:xfrm>
            <a:off x="558860" y="4234005"/>
            <a:ext cx="10498455" cy="1376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13664" algn="l" rtl="0" eaLnBrk="0">
              <a:lnSpc>
                <a:spcPts val="1922"/>
              </a:lnSpc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自定义业务指标(在线用户数、直播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防作弊系统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</a:t>
            </a:r>
            <a:r>
              <a:rPr sz="2300" kern="0" spc="0" baseline="-2177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jieba</a:t>
            </a:r>
            <a:r>
              <a:rPr sz="2300" kern="0" spc="50" baseline="-2177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中文分词技术</a:t>
            </a:r>
            <a:endParaRPr sz="2300" baseline="-2177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9000"/>
              </a:lnSpc>
              <a:spcBef>
                <a:spcPts val="1434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基于考试结果的模型追踪式训练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基于模型的报告自动总结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75000"/>
              </a:lnSpc>
              <a:spcBef>
                <a:spcPts val="440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Grafana</a:t>
            </a:r>
            <a:r>
              <a:rPr sz="1500" kern="0" spc="-4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可视化：实时监控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Dashboard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4356100" algn="l" rtl="0" eaLnBrk="0">
              <a:lnSpc>
                <a:spcPct val="89000"/>
              </a:lnSpc>
              <a:spcBef>
                <a:spcPts val="2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提升监考效率与考试公平性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提升教学效果反馈与分析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393065" algn="l" rtl="0" eaLnBrk="0">
              <a:lnSpc>
                <a:spcPct val="98000"/>
              </a:lnSpc>
              <a:spcBef>
                <a:spcPts val="336"/>
              </a:spcBef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业务指标面板与告警规则配置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244" name="table 244"/>
          <p:cNvGraphicFramePr>
            <a:graphicFrameLocks noGrp="1"/>
          </p:cNvGraphicFramePr>
          <p:nvPr/>
        </p:nvGraphicFramePr>
        <p:xfrm>
          <a:off x="596920" y="2792185"/>
          <a:ext cx="10527664" cy="1252220"/>
        </p:xfrm>
        <a:graphic>
          <a:graphicData uri="http://schemas.openxmlformats.org/drawingml/2006/table">
            <a:tbl>
              <a:tblPr/>
              <a:tblGrid>
                <a:gridCol w="3681095"/>
                <a:gridCol w="3870959"/>
                <a:gridCol w="2975610"/>
              </a:tblGrid>
              <a:tr h="412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4775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900" b="1" kern="0" spc="80" dirty="0">
                          <a:solidFill>
                            <a:srgbClr val="F08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创新7:一体化智能</a:t>
                      </a:r>
                      <a:r>
                        <a:rPr sz="1900" b="1" kern="0" spc="70" dirty="0">
                          <a:solidFill>
                            <a:srgbClr val="F08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监控平台</a:t>
                      </a:r>
                      <a:endParaRPr sz="1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129" algn="l" rtl="0" eaLnBrk="0">
                        <a:lnSpc>
                          <a:spcPct val="95000"/>
                        </a:lnSpc>
                        <a:tabLst/>
                      </a:pPr>
                      <a:r>
                        <a:rPr sz="1900" b="1" kern="0" spc="90" dirty="0">
                          <a:solidFill>
                            <a:srgbClr val="F08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创新8:考试人脸检测</a:t>
                      </a:r>
                      <a:r>
                        <a:rPr sz="1900" b="1" kern="0" spc="80" dirty="0">
                          <a:solidFill>
                            <a:srgbClr val="F08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监控</a:t>
                      </a:r>
                      <a:endParaRPr sz="1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4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tabLst/>
                      </a:pPr>
                      <a:r>
                        <a:rPr sz="1900" b="1" kern="0" spc="100" dirty="0">
                          <a:solidFill>
                            <a:srgbClr val="F0801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创新9:直播词云分析</a:t>
                      </a:r>
                      <a:endParaRPr sz="1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30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Prometheus</a:t>
                      </a:r>
                      <a:r>
                        <a:rPr sz="15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监控：采集所有容器指标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44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1969" algn="l" rtl="0" eaLnBrk="0">
                        <a:lnSpc>
                          <a:spcPts val="2112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基于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tiny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-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face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模型的人脸检测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90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21359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自动提取直播高频关键词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4650" algn="l" rtl="0" eaLnBrk="0">
                        <a:lnSpc>
                          <a:spcPct val="8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Redis</a:t>
                      </a:r>
                      <a:r>
                        <a:rPr sz="15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 </a:t>
                      </a: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Exporter</a:t>
                      </a:r>
                      <a:r>
                        <a:rPr sz="1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监控缓存性能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30605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实时监控考试过程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22044" algn="l" rtl="0" eaLnBrk="0">
                        <a:lnSpc>
                          <a:spcPct val="91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生成可视化词云</a:t>
                      </a:r>
                      <a:endParaRPr sz="1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46" name="picture 2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14560" y="1689125"/>
            <a:ext cx="8896258" cy="838184"/>
          </a:xfrm>
          <a:prstGeom prst="rect">
            <a:avLst/>
          </a:prstGeom>
        </p:spPr>
      </p:pic>
      <p:sp>
        <p:nvSpPr>
          <p:cNvPr id="248" name="textbox 248"/>
          <p:cNvSpPr/>
          <p:nvPr/>
        </p:nvSpPr>
        <p:spPr>
          <a:xfrm>
            <a:off x="3327073" y="534854"/>
            <a:ext cx="5377815" cy="506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3300" b="1" kern="0" spc="18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系统创新点与技术突破(三</a:t>
            </a:r>
            <a:r>
              <a:rPr sz="3300" b="1" kern="0" spc="17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3300" dirty="0">
              <a:latin typeface="SimHei"/>
              <a:ea typeface="SimHei"/>
              <a:cs typeface="SimHei"/>
            </a:endParaRPr>
          </a:p>
        </p:txBody>
      </p:sp>
      <p:sp>
        <p:nvSpPr>
          <p:cNvPr id="250" name="textbox 250"/>
          <p:cNvSpPr/>
          <p:nvPr/>
        </p:nvSpPr>
        <p:spPr>
          <a:xfrm>
            <a:off x="1822439" y="4522731"/>
            <a:ext cx="726440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观看数)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0852200" y="6505439"/>
            <a:ext cx="376554" cy="171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12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14/18</a:t>
            </a:r>
            <a:endParaRPr sz="12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711260" y="1643041"/>
            <a:ext cx="2000250" cy="4674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92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84000"/>
              </a:lnSpc>
              <a:tabLst/>
            </a:pPr>
            <a:r>
              <a:rPr sz="1500" b="1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User Interface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84000"/>
              </a:lnSpc>
              <a:spcBef>
                <a:spcPts val="455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Application Serv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ices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ct val="84000"/>
              </a:lnSpc>
              <a:spcBef>
                <a:spcPts val="462"/>
              </a:spcBef>
              <a:tabLst/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Infrastructu</a:t>
            </a:r>
            <a:r>
              <a:rPr sz="1500" b="1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8000"/>
              </a:lnSpc>
              <a:spcBef>
                <a:spcPts val="456"/>
              </a:spcBef>
              <a:tabLst/>
            </a:pPr>
            <a:r>
              <a:rPr sz="15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前端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1000"/>
              </a:lnSpc>
              <a:spcBef>
                <a:spcPts val="834"/>
              </a:spcBef>
              <a:tabLst/>
            </a:pP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·Vue</a:t>
            </a:r>
            <a:r>
              <a:rPr sz="1300" b="1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3+Element</a:t>
            </a:r>
            <a:r>
              <a:rPr sz="1300" b="1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Plus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1"/>
              </a:spcBef>
              <a:tabLst/>
            </a:pP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·Pinia+Mon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aco</a:t>
            </a:r>
            <a:r>
              <a:rPr sz="13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3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Editor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9004259" y="2835771"/>
            <a:ext cx="2350135" cy="3653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2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700" algn="l" rtl="0" eaLnBrk="0">
              <a:lnSpc>
                <a:spcPct val="82000"/>
              </a:lnSpc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OnlyOffice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647700" algn="l" rtl="0" eaLnBrk="0">
              <a:lnSpc>
                <a:spcPts val="2012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文档协同服务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755650" algn="l" rtl="0" eaLnBrk="0">
              <a:lnSpc>
                <a:spcPct val="84000"/>
              </a:lnSpc>
              <a:spcBef>
                <a:spcPts val="456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Grafana</a:t>
            </a:r>
            <a:endParaRPr sz="1500" dirty="0">
              <a:latin typeface="Arial"/>
              <a:ea typeface="Arial"/>
              <a:cs typeface="Arial"/>
            </a:endParaRPr>
          </a:p>
          <a:p>
            <a:pPr marL="717550" algn="l" rtl="0" eaLnBrk="0">
              <a:lnSpc>
                <a:spcPct val="96000"/>
              </a:lnSpc>
              <a:spcBef>
                <a:spcPts val="353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监控可视化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394"/>
              </a:spcBef>
              <a:tabLst/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DevOps</a:t>
            </a: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spcBef>
                <a:spcPts val="727"/>
              </a:spcBef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·SRS+HLS+W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ebRTC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22250" indent="-209550" algn="l" rtl="0" eaLnBrk="0">
              <a:lnSpc>
                <a:spcPct val="93000"/>
              </a:lnSpc>
              <a:tabLst/>
            </a:pP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·Docker+Docker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Co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mpose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+Kubernetes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3505179" y="5105595"/>
            <a:ext cx="4612640" cy="1181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8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52625" algn="l" rtl="0" eaLnBrk="0">
              <a:lnSpc>
                <a:spcPct val="96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技术栈总结</a:t>
            </a:r>
            <a:endParaRPr sz="2000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8000"/>
              </a:lnSpc>
              <a:spcBef>
                <a:spcPts val="976"/>
              </a:spcBef>
              <a:tabLst/>
            </a:pPr>
            <a:r>
              <a:rPr sz="15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后端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933"/>
              </a:lnSpc>
              <a:spcBef>
                <a:spcPts val="168"/>
              </a:spcBef>
              <a:tabLst/>
            </a:pPr>
            <a:r>
              <a:rPr sz="2000" kern="0" spc="0" baseline="3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·Spring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000" kern="0" spc="0" baseline="3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Boot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</a:t>
            </a:r>
            <a:r>
              <a:rPr sz="2000" kern="0" spc="0" baseline="3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3.2+MyB</a:t>
            </a:r>
            <a:r>
              <a:rPr sz="2000" kern="0" spc="-10" baseline="32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atis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2300" kern="0" spc="-10" baseline="73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·Flask+Qwen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</a:t>
            </a:r>
            <a:r>
              <a:rPr sz="2300" kern="0" spc="-10" baseline="73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多模态</a:t>
            </a:r>
            <a:endParaRPr sz="2300" baseline="739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71"/>
              </a:lnSpc>
              <a:spcBef>
                <a:spcPts val="178"/>
              </a:spcBef>
              <a:tabLst/>
            </a:pP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    Redis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+WebSocket</a:t>
            </a: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</a:t>
            </a:r>
            <a:r>
              <a:rPr sz="13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·jie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</a:t>
            </a:r>
            <a:r>
              <a:rPr sz="1300" kern="0" spc="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</a:t>
            </a:r>
            <a:r>
              <a:rPr sz="1300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词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2978119" y="1569211"/>
            <a:ext cx="1421764" cy="1712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83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Frontend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84150" algn="l" rtl="0" eaLnBrk="0">
              <a:lnSpc>
                <a:spcPct val="95000"/>
              </a:lnSpc>
              <a:spcBef>
                <a:spcPts val="358"/>
              </a:spcBef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Vue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3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前端应用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98450" algn="l" rtl="0" eaLnBrk="0">
              <a:lnSpc>
                <a:spcPct val="83000"/>
              </a:lnSpc>
              <a:spcBef>
                <a:spcPts val="459"/>
              </a:spcBef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Backend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1000"/>
              </a:lnSpc>
              <a:spcBef>
                <a:spcPts val="1"/>
              </a:spcBef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Spring Boo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t</a:t>
            </a:r>
            <a:r>
              <a:rPr sz="1300" kern="0" spc="-1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后端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API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4617132" y="533237"/>
            <a:ext cx="2981325" cy="588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60" dirty="0">
                <a:solidFill>
                  <a:srgbClr val="6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技术架构总览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7391379" y="4128274"/>
            <a:ext cx="1071244" cy="472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143"/>
              </a:lnSpc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Prometheus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88900" algn="l" rtl="0" eaLnBrk="0">
              <a:lnSpc>
                <a:spcPts val="2371"/>
              </a:lnSpc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监控数据采集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5232420" y="2830504"/>
            <a:ext cx="1181100" cy="448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9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13664" algn="l" rtl="0" eaLnBrk="0">
              <a:lnSpc>
                <a:spcPct val="105000"/>
              </a:lnSpc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kern="0" spc="2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Flask AI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智能服务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7467578" y="2854317"/>
            <a:ext cx="947419" cy="471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6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ct val="81000"/>
              </a:lnSpc>
              <a:tabLst/>
            </a:pPr>
            <a:r>
              <a:rPr sz="13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SRS</a:t>
            </a: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流媒体服务器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5333979" y="4162931"/>
            <a:ext cx="968375" cy="460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5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158114" algn="l" rtl="0" eaLnBrk="0">
              <a:lnSpc>
                <a:spcPct val="104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MySQL    </a:t>
            </a:r>
            <a:r>
              <a:rPr sz="13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关系型数据库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3263900" y="4128274"/>
            <a:ext cx="814069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0814" algn="l" rtl="0" eaLnBrk="0">
              <a:lnSpc>
                <a:spcPct val="83000"/>
              </a:lnSpc>
              <a:tabLst/>
            </a:pPr>
            <a:r>
              <a:rPr sz="15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Redis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缓存中间件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11315740" y="6475120"/>
            <a:ext cx="603884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71"/>
              </a:lnSpc>
              <a:tabLst/>
            </a:pP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3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of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</a:t>
            </a:r>
            <a:endParaRPr sz="1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picture 2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4489439" y="1632717"/>
            <a:ext cx="2436495" cy="3228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60450" algn="l" rtl="0" eaLnBrk="0">
              <a:lnSpc>
                <a:spcPct val="83000"/>
              </a:lnSpc>
              <a:tabLst/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Backend</a:t>
            </a:r>
            <a:endParaRPr sz="15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1000"/>
              </a:lnSpc>
              <a:spcBef>
                <a:spcPts val="683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Spring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Boot</a:t>
            </a:r>
            <a:r>
              <a:rPr sz="1200" kern="0" spc="-9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后端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API</a:t>
            </a: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38200" algn="l" rtl="0" eaLnBrk="0">
              <a:lnSpc>
                <a:spcPct val="84000"/>
              </a:lnSpc>
              <a:spcBef>
                <a:spcPts val="458"/>
              </a:spcBef>
              <a:tabLst/>
            </a:pPr>
            <a:r>
              <a:rPr sz="1500" b="1" kern="0" spc="-20" dirty="0">
                <a:solidFill>
                  <a:srgbClr val="4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D</a:t>
            </a:r>
            <a:r>
              <a:rPr sz="1500" b="1" kern="0" spc="-20" dirty="0">
                <a:solidFill>
                  <a:srgbClr val="302060">
                    <a:alpha val="100000"/>
                  </a:srgbClr>
                </a:solidFill>
                <a:latin typeface="Arial"/>
                <a:ea typeface="Arial"/>
                <a:cs typeface="Arial"/>
              </a:rPr>
              <a:t>ocker Compose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53"/>
              </a:spcBef>
              <a:tabLst/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Redis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缓存中间件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1863415" y="1639095"/>
            <a:ext cx="1346200" cy="4376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3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83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Frontend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95000"/>
              </a:lnSpc>
              <a:spcBef>
                <a:spcPts val="554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Vue</a:t>
            </a:r>
            <a:r>
              <a:rPr sz="1200" kern="0" spc="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3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前端应用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84000"/>
              </a:lnSpc>
              <a:spcBef>
                <a:spcPts val="455"/>
              </a:spcBef>
              <a:tabLst/>
            </a:pPr>
            <a:r>
              <a:rPr sz="1500" b="1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Servic</a:t>
            </a: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76529" algn="l" rtl="0" eaLnBrk="0">
              <a:lnSpc>
                <a:spcPct val="95000"/>
              </a:lnSpc>
              <a:spcBef>
                <a:spcPts val="588"/>
              </a:spcBef>
              <a:tabLst/>
            </a:pP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Flask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Al</a:t>
            </a: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</a:t>
            </a:r>
            <a:r>
              <a:rPr sz="12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能服务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81000"/>
              </a:lnSpc>
              <a:spcBef>
                <a:spcPts val="362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SRS</a:t>
            </a:r>
            <a:endParaRPr sz="1200" dirty="0">
              <a:latin typeface="Arial"/>
              <a:ea typeface="Arial"/>
              <a:cs typeface="Arial"/>
            </a:endParaRPr>
          </a:p>
          <a:p>
            <a:pPr marL="174625" algn="l" rtl="0" eaLnBrk="0">
              <a:lnSpc>
                <a:spcPct val="95000"/>
              </a:lnSpc>
              <a:spcBef>
                <a:spcPts val="773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流媒体服务器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9000"/>
              </a:lnSpc>
              <a:spcBef>
                <a:spcPts val="456"/>
              </a:spcBef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一键部署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95000"/>
              </a:lnSpc>
              <a:tabLst/>
            </a:pP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9个微服务统一启动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9455118" y="1629509"/>
            <a:ext cx="1148080" cy="3237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5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OnlyOffice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602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文档协同服务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3000"/>
              </a:lnSpc>
              <a:spcBef>
                <a:spcPts val="451"/>
              </a:spcBef>
              <a:tabLst/>
            </a:pP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Prometheus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0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监控数据采集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spcBef>
                <a:spcPts val="461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Grafana</a:t>
            </a:r>
            <a:endParaRPr sz="15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监控可视化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6985019" y="4391508"/>
            <a:ext cx="1388744" cy="1625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1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MySQL</a:t>
            </a:r>
            <a:endParaRPr sz="1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06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关系型数据库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9000"/>
              </a:lnSpc>
              <a:spcBef>
                <a:spcPts val="451"/>
              </a:spcBef>
              <a:tabLst/>
            </a:pPr>
            <a:r>
              <a:rPr sz="15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数据持久化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卷管理确保数据安全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9641519" y="5524029"/>
            <a:ext cx="2055495" cy="1048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4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9000"/>
              </a:lnSpc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健康检查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546"/>
              </a:spcBef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服务自动重启机制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6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014"/>
              </a:lnSpc>
              <a:spcBef>
                <a:spcPts val="2"/>
              </a:spcBef>
              <a:tabLst/>
            </a:pPr>
            <a:r>
              <a:rPr sz="13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Docker Compose</a:t>
            </a:r>
            <a:endParaRPr sz="1300" dirty="0">
              <a:latin typeface="Arial"/>
              <a:ea typeface="Arial"/>
              <a:cs typeface="Arial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4495886" y="557671"/>
            <a:ext cx="3195320" cy="544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500" b="1" kern="0" spc="40" dirty="0">
                <a:solidFill>
                  <a:srgbClr val="6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容器化部署架构</a:t>
            </a:r>
            <a:endParaRPr sz="3500" dirty="0">
              <a:latin typeface="SimHei"/>
              <a:ea typeface="SimHei"/>
              <a:cs typeface="Sim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4489439" y="5521864"/>
            <a:ext cx="1087119" cy="494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7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8000"/>
              </a:lnSpc>
              <a:tabLst/>
            </a:pPr>
            <a:r>
              <a:rPr sz="15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网络隔离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服务间安全通信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94" name="picture 2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94460" y="5524530"/>
            <a:ext cx="476219" cy="463532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029761" y="5537217"/>
            <a:ext cx="482558" cy="450844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82720" y="5524530"/>
            <a:ext cx="450860" cy="457154"/>
          </a:xfrm>
          <a:prstGeom prst="rect">
            <a:avLst/>
          </a:prstGeom>
        </p:spPr>
      </p:pic>
      <p:pic>
        <p:nvPicPr>
          <p:cNvPr id="300" name="picture 3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924360" y="5530839"/>
            <a:ext cx="444398" cy="457222"/>
          </a:xfrm>
          <a:prstGeom prst="rect">
            <a:avLst/>
          </a:prstGeom>
        </p:spPr>
      </p:pic>
      <p:sp>
        <p:nvSpPr>
          <p:cNvPr id="302" name="textbox 302"/>
          <p:cNvSpPr/>
          <p:nvPr/>
        </p:nvSpPr>
        <p:spPr>
          <a:xfrm>
            <a:off x="508020" y="6399241"/>
            <a:ext cx="132079" cy="1358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16</a:t>
            </a:r>
            <a:endParaRPr sz="9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3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3949720" y="1155710"/>
            <a:ext cx="4286219" cy="2476492"/>
            <a:chOff x="0" y="0"/>
            <a:chExt cx="4286219" cy="2476492"/>
          </a:xfrm>
        </p:grpSpPr>
        <p:pic>
          <p:nvPicPr>
            <p:cNvPr id="306" name="picture 30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286219" cy="2476492"/>
            </a:xfrm>
            <a:prstGeom prst="rect">
              <a:avLst/>
            </a:prstGeom>
          </p:spPr>
        </p:pic>
        <p:sp>
          <p:nvSpPr>
            <p:cNvPr id="308" name="textbox 308"/>
            <p:cNvSpPr/>
            <p:nvPr/>
          </p:nvSpPr>
          <p:spPr>
            <a:xfrm>
              <a:off x="527039" y="449262"/>
              <a:ext cx="3528695" cy="192151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3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71600" algn="l" rtl="0" eaLnBrk="0">
                <a:lnSpc>
                  <a:spcPct val="88000"/>
                </a:lnSpc>
                <a:tabLst/>
              </a:pPr>
              <a:r>
                <a:rPr sz="500" b="1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Control</a:t>
              </a:r>
              <a:r>
                <a:rPr sz="500" b="1" kern="0" spc="7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</a:t>
              </a:r>
              <a:r>
                <a:rPr sz="500" b="1" kern="0" spc="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Pl</a:t>
              </a:r>
              <a:r>
                <a:rPr sz="500" b="1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ane</a:t>
              </a:r>
              <a:endParaRPr sz="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856614" algn="l" rtl="0" eaLnBrk="0">
                <a:lnSpc>
                  <a:spcPct val="88000"/>
                </a:lnSpc>
                <a:spcBef>
                  <a:spcPts val="154"/>
                </a:spcBef>
                <a:tabLst/>
              </a:pPr>
              <a:r>
                <a:rPr sz="500" kern="0" spc="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Scheduler</a:t>
              </a:r>
              <a:endParaRPr sz="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24000" algn="l" rtl="0" eaLnBrk="0">
                <a:lnSpc>
                  <a:spcPts val="1302"/>
                </a:lnSpc>
                <a:spcBef>
                  <a:spcPts val="279"/>
                </a:spcBef>
                <a:tabLst/>
              </a:pPr>
              <a:r>
                <a:rPr sz="900" kern="0" spc="-10" dirty="0">
                  <a:solidFill>
                    <a:srgbClr val="7020B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击</a:t>
              </a:r>
              <a:r>
                <a:rPr sz="900" kern="0" spc="-10" dirty="0">
                  <a:solidFill>
                    <a:srgbClr val="7020B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 </a:t>
              </a:r>
              <a:r>
                <a:rPr sz="9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Semc</a:t>
              </a: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755"/>
                </a:lnSpc>
                <a:spcBef>
                  <a:spcPts val="159"/>
                </a:spcBef>
                <a:tabLst/>
              </a:pP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</a:t>
              </a:r>
              <a:r>
                <a:rPr sz="800" kern="0" spc="0" baseline="-26866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5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baseline="-26866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800" kern="0" spc="0" baseline="12199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Podc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</a:t>
              </a:r>
              <a:r>
                <a:rPr sz="800" kern="0" spc="0" baseline="12199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6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800" kern="0" spc="0" baseline="12199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B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PodC</a:t>
              </a:r>
              <a:endParaRPr sz="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7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16964" algn="l" rtl="0" eaLnBrk="0">
                <a:lnSpc>
                  <a:spcPct val="87000"/>
                </a:lnSpc>
                <a:spcBef>
                  <a:spcPts val="152"/>
                </a:spcBef>
                <a:tabLst/>
              </a:pP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PodA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                                          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2            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Pod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3</a:t>
              </a:r>
              <a:endParaRPr sz="5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500" b="1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Worker Node</a:t>
              </a:r>
              <a:r>
                <a:rPr sz="500" b="1" kern="0" spc="1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</a:t>
              </a:r>
              <a:r>
                <a:rPr sz="5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</a:t>
              </a:r>
              <a:r>
                <a:rPr sz="500" b="1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Worker Node</a:t>
              </a:r>
              <a:r>
                <a:rPr sz="500" b="1" kern="0" spc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                                                         </a:t>
              </a:r>
              <a:r>
                <a:rPr sz="500" b="1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Worker</a:t>
              </a:r>
              <a:r>
                <a:rPr sz="500" b="1" kern="0" spc="8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500" b="1" kern="0" spc="-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Node</a:t>
              </a:r>
              <a:endParaRPr sz="500" dirty="0"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310" name="textbox 310"/>
          <p:cNvSpPr/>
          <p:nvPr/>
        </p:nvSpPr>
        <p:spPr>
          <a:xfrm>
            <a:off x="4648179" y="3993115"/>
            <a:ext cx="3038475" cy="1972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6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66775" algn="l" rtl="0" eaLnBrk="0">
              <a:lnSpc>
                <a:spcPct val="98000"/>
              </a:lnSpc>
              <a:tabLst/>
            </a:pPr>
            <a:r>
              <a:rPr sz="1800" b="1" kern="0" spc="1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高可用特性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82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-多副本部署：关键服务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3副本，确保高可用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58750" indent="-146050" algn="l" rtl="0" eaLnBrk="0">
              <a:lnSpc>
                <a:spcPct val="114000"/>
              </a:lnSpc>
              <a:spcBef>
                <a:spcPts val="44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-自动扩缩容：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HPA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CP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U/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内存自动调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整副本数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58750" indent="-146050" algn="l" rtl="0" eaLnBrk="0">
              <a:lnSpc>
                <a:spcPct val="110000"/>
              </a:lnSpc>
              <a:spcBef>
                <a:spcPts val="414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-健康检查：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Liveness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Readiness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探针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保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证服务健康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427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-滚动更新：零停机发布，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灰度发布策略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703"/>
              </a:lnSpc>
              <a:spcBef>
                <a:spcPts val="255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-服务网格：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Istio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流量管理与监控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1257340" y="5018382"/>
            <a:ext cx="2660650" cy="1316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·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Service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Deployment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(2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副本)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406"/>
              </a:spcBef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Service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     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服务发现与负载均衡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395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Ingress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统一入口与路由规则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302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ConfigMap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: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配置文件管理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366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Secret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敏感信息管理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260"/>
              </a:spcBef>
              <a:tabLst/>
            </a:pP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PersistentVolume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2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数据持久化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8102661" y="3994760"/>
            <a:ext cx="2405379" cy="1270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7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96925" algn="l" rtl="0" eaLnBrk="0">
              <a:lnSpc>
                <a:spcPct val="99000"/>
              </a:lnSpc>
              <a:tabLst/>
            </a:pPr>
            <a:r>
              <a:rPr sz="1800" b="1" kern="0" spc="20" dirty="0">
                <a:solidFill>
                  <a:srgbClr val="E09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监控与日志</a:t>
            </a:r>
            <a:endParaRPr sz="1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703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Prometheus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采集所有服务指标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425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Grafana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4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可视化监控面板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428"/>
              </a:spcBef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EFK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Stack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-2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集中式日志收集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spcBef>
                <a:spcPts val="2"/>
              </a:spcBef>
              <a:tabLst/>
            </a:pP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-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Jaeger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:</a:t>
            </a:r>
            <a:r>
              <a:rPr sz="1200" kern="0" spc="5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分布式链路追踪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316" name="picture 3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29961" y="0"/>
            <a:ext cx="1562038" cy="1562115"/>
          </a:xfrm>
          <a:prstGeom prst="rect">
            <a:avLst/>
          </a:prstGeom>
        </p:spPr>
      </p:pic>
      <p:sp>
        <p:nvSpPr>
          <p:cNvPr id="318" name="textbox 318"/>
          <p:cNvSpPr/>
          <p:nvPr/>
        </p:nvSpPr>
        <p:spPr>
          <a:xfrm>
            <a:off x="4127384" y="516160"/>
            <a:ext cx="3943984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400" b="1" kern="0" spc="50" dirty="0">
                <a:solidFill>
                  <a:srgbClr val="50207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K8s</a:t>
            </a:r>
            <a:r>
              <a:rPr sz="3400" kern="0" spc="-420" dirty="0">
                <a:solidFill>
                  <a:srgbClr val="50207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3400" b="1" kern="0" spc="50" dirty="0">
                <a:solidFill>
                  <a:srgbClr val="5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云原生部署方案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320" name="table 320"/>
          <p:cNvGraphicFramePr>
            <a:graphicFrameLocks noGrp="1"/>
          </p:cNvGraphicFramePr>
          <p:nvPr/>
        </p:nvGraphicFramePr>
        <p:xfrm>
          <a:off x="1270040" y="4376081"/>
          <a:ext cx="2571114" cy="614680"/>
        </p:xfrm>
        <a:graphic>
          <a:graphicData uri="http://schemas.openxmlformats.org/drawingml/2006/table">
            <a:tbl>
              <a:tblPr/>
              <a:tblGrid>
                <a:gridCol w="1045844"/>
                <a:gridCol w="1525269"/>
              </a:tblGrid>
              <a:tr h="614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9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Deployment</a:t>
                      </a:r>
                      <a:r>
                        <a:rPr sz="12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endParaRPr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291465" algn="l" rtl="0" eaLnBrk="0">
                        <a:lnSpc>
                          <a:spcPct val="83000"/>
                        </a:lnSpc>
                        <a:spcBef>
                          <a:spcPts val="453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91465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·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  <a:endParaRPr sz="1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50495" indent="-66039" algn="l" rtl="0" eaLnBrk="0">
                        <a:lnSpc>
                          <a:spcPct val="10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应用部署与版本管理</a:t>
                      </a:r>
                      <a:r>
                        <a:rPr sz="12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(3</a:t>
                      </a:r>
                      <a:r>
                        <a:rPr sz="12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副本)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144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1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Deployment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(3</a:t>
                      </a:r>
                      <a:r>
                        <a:rPr sz="1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副本)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56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322" name="picture 3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8479" y="1047765"/>
            <a:ext cx="628619" cy="565167"/>
          </a:xfrm>
          <a:prstGeom prst="rect">
            <a:avLst/>
          </a:prstGeom>
        </p:spPr>
      </p:pic>
      <p:pic>
        <p:nvPicPr>
          <p:cNvPr id="324" name="picture 3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50339" y="2597124"/>
            <a:ext cx="634958" cy="539793"/>
          </a:xfrm>
          <a:prstGeom prst="rect">
            <a:avLst/>
          </a:prstGeom>
        </p:spPr>
      </p:pic>
      <p:sp>
        <p:nvSpPr>
          <p:cNvPr id="326" name="textbox 326"/>
          <p:cNvSpPr/>
          <p:nvPr/>
        </p:nvSpPr>
        <p:spPr>
          <a:xfrm>
            <a:off x="1984539" y="3992175"/>
            <a:ext cx="1428114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800" b="1" kern="0" spc="2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核心资源对象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328" name="picture 3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9442459" y="1085827"/>
            <a:ext cx="508041" cy="520727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905000" y="1962142"/>
            <a:ext cx="501700" cy="520727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743200" y="1339847"/>
            <a:ext cx="501700" cy="514350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441460" y="2895584"/>
            <a:ext cx="482559" cy="457222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0502919" y="3016217"/>
            <a:ext cx="444520" cy="419160"/>
          </a:xfrm>
          <a:prstGeom prst="rect">
            <a:avLst/>
          </a:prstGeom>
        </p:spPr>
      </p:pic>
      <p:pic>
        <p:nvPicPr>
          <p:cNvPr id="338" name="picture 33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540959" y="1682747"/>
            <a:ext cx="349300" cy="349278"/>
          </a:xfrm>
          <a:prstGeom prst="rect">
            <a:avLst/>
          </a:prstGeom>
        </p:spPr>
      </p:pic>
      <p:pic>
        <p:nvPicPr>
          <p:cNvPr id="340" name="picture 3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794699" y="2120905"/>
            <a:ext cx="349301" cy="330212"/>
          </a:xfrm>
          <a:prstGeom prst="rect">
            <a:avLst/>
          </a:prstGeom>
        </p:spPr>
      </p:pic>
      <p:sp>
        <p:nvSpPr>
          <p:cNvPr id="342" name="textbox 342"/>
          <p:cNvSpPr/>
          <p:nvPr/>
        </p:nvSpPr>
        <p:spPr>
          <a:xfrm>
            <a:off x="11474480" y="6518470"/>
            <a:ext cx="521969" cy="295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200" b="1" kern="0" spc="-10" dirty="0">
                <a:solidFill>
                  <a:srgbClr val="602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Yali</a:t>
            </a:r>
            <a:endParaRPr sz="2200" dirty="0">
              <a:latin typeface="Arial"/>
              <a:ea typeface="Arial"/>
              <a:cs typeface="Arial"/>
            </a:endParaRPr>
          </a:p>
        </p:txBody>
      </p:sp>
      <p:pic>
        <p:nvPicPr>
          <p:cNvPr id="344" name="picture 34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149559" y="2590815"/>
            <a:ext cx="228599" cy="234955"/>
          </a:xfrm>
          <a:prstGeom prst="rect">
            <a:avLst/>
          </a:prstGeom>
        </p:spPr>
      </p:pic>
      <p:sp>
        <p:nvSpPr>
          <p:cNvPr id="346" name="textbox 346"/>
          <p:cNvSpPr/>
          <p:nvPr/>
        </p:nvSpPr>
        <p:spPr>
          <a:xfrm>
            <a:off x="7619979" y="2332179"/>
            <a:ext cx="248284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49"/>
              </a:lnSpc>
              <a:tabLst/>
            </a:pP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Ingress</a:t>
            </a:r>
            <a:endParaRPr sz="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icture 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18640" y="158762"/>
            <a:ext cx="2882920" cy="2686004"/>
          </a:xfrm>
          <a:prstGeom prst="rect">
            <a:avLst/>
          </a:prstGeom>
        </p:spPr>
      </p:pic>
      <p:sp>
        <p:nvSpPr>
          <p:cNvPr id="352" name="textbox 352"/>
          <p:cNvSpPr/>
          <p:nvPr/>
        </p:nvSpPr>
        <p:spPr>
          <a:xfrm>
            <a:off x="1346220" y="515400"/>
            <a:ext cx="9282430" cy="3297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92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11500" algn="l" rtl="0" eaLnBrk="0">
              <a:lnSpc>
                <a:spcPct val="98000"/>
              </a:lnSpc>
              <a:tabLst/>
            </a:pPr>
            <a:r>
              <a:rPr sz="3600" b="1" kern="0" spc="110" dirty="0">
                <a:solidFill>
                  <a:srgbClr val="6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总结与未来规划</a:t>
            </a:r>
            <a:endParaRPr sz="3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56250" algn="l" rtl="0" eaLnBrk="0">
              <a:lnSpc>
                <a:spcPct val="96000"/>
              </a:lnSpc>
              <a:spcBef>
                <a:spcPts val="700"/>
              </a:spcBef>
              <a:tabLst>
                <a:tab pos="5661659" algn="l"/>
              </a:tabLst>
            </a:pPr>
            <a:r>
              <a:rPr sz="2300" kern="0" spc="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300" b="1" kern="0" spc="10" dirty="0">
                <a:solidFill>
                  <a:srgbClr val="F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当前不足</a:t>
            </a:r>
            <a:endParaRPr sz="2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695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完成三端(学生/教师/管理员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)完整功能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移动端适配尚未完成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736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集成7大创新技术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AI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/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直播/实验/协同等)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直播录制回放功能待开发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827"/>
              </a:lnSpc>
              <a:spcBef>
                <a:spcPts val="800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实现微服务化部署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Docker</a:t>
            </a:r>
            <a:r>
              <a:rPr sz="1500" kern="0" spc="1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Compose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             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agent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的错误惩罚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8000"/>
              </a:lnSpc>
              <a:spcBef>
                <a:spcPts val="390"/>
              </a:spcBef>
              <a:tabLst/>
            </a:pP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建立完善的监控体系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Prometheus</a:t>
            </a:r>
            <a:r>
              <a:rPr sz="1500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+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Grafana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                                  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代码执行依赖外部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API</a:t>
            </a:r>
            <a:r>
              <a:rPr sz="1500" kern="0" spc="2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(可自建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Piston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)</a:t>
            </a:r>
            <a:endParaRPr sz="1500" dirty="0">
              <a:latin typeface="SimSun"/>
              <a:ea typeface="SimSun"/>
              <a:cs typeface="SimSun"/>
            </a:endParaRPr>
          </a:p>
          <a:p>
            <a:pPr marL="5657215" algn="l" rtl="0" eaLnBrk="0">
              <a:lnSpc>
                <a:spcPct val="98000"/>
              </a:lnSpc>
              <a:spcBef>
                <a:spcPts val="905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·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AI</a:t>
            </a:r>
            <a:r>
              <a:rPr sz="1500" kern="0" spc="-21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模型训练功能待开发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5657215" algn="l" rtl="0" eaLnBrk="0">
              <a:lnSpc>
                <a:spcPct val="98000"/>
              </a:lnSpc>
              <a:spcBef>
                <a:spcPts val="2"/>
              </a:spcBef>
              <a:tabLst/>
            </a:pP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500" kern="0" spc="-5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错误处理机制待完善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54" name="picture 3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64320" y="1447792"/>
            <a:ext cx="438181" cy="431779"/>
          </a:xfrm>
          <a:prstGeom prst="rect">
            <a:avLst/>
          </a:prstGeom>
        </p:spPr>
      </p:pic>
      <p:sp>
        <p:nvSpPr>
          <p:cNvPr id="356" name="textbox 356"/>
          <p:cNvSpPr/>
          <p:nvPr/>
        </p:nvSpPr>
        <p:spPr>
          <a:xfrm>
            <a:off x="806480" y="4254484"/>
            <a:ext cx="2690495" cy="20059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43865" algn="l" rtl="0" eaLnBrk="0">
              <a:lnSpc>
                <a:spcPct val="96000"/>
              </a:lnSpc>
              <a:spcBef>
                <a:spcPts val="5"/>
              </a:spcBef>
              <a:tabLst>
                <a:tab pos="556259" algn="l"/>
              </a:tabLst>
            </a:pPr>
            <a:r>
              <a:rPr sz="2300" kern="0" spc="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300" b="1" kern="0" spc="0" dirty="0">
                <a:solidFill>
                  <a:srgbClr val="E08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未来展望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107439" algn="l" rtl="0" eaLnBrk="0">
              <a:lnSpc>
                <a:spcPct val="100000"/>
              </a:lnSpc>
              <a:spcBef>
                <a:spcPts val="455"/>
              </a:spcBef>
              <a:tabLst/>
            </a:pPr>
            <a:r>
              <a:rPr sz="15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短期(1-3月)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838200" indent="5714" algn="l" rtl="0" eaLnBrk="0">
              <a:lnSpc>
                <a:spcPct val="110000"/>
              </a:lnSpc>
              <a:spcBef>
                <a:spcPts val="3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移动端适配、直播回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放</a:t>
            </a:r>
            <a:r>
              <a:rPr sz="15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 </a:t>
            </a: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增强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58" name="picture 35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19180" y="4267184"/>
            <a:ext cx="431718" cy="419092"/>
          </a:xfrm>
          <a:prstGeom prst="rect">
            <a:avLst/>
          </a:prstGeom>
        </p:spPr>
      </p:pic>
      <p:sp>
        <p:nvSpPr>
          <p:cNvPr id="360" name="textbox 360"/>
          <p:cNvSpPr/>
          <p:nvPr/>
        </p:nvSpPr>
        <p:spPr>
          <a:xfrm>
            <a:off x="5118059" y="4877078"/>
            <a:ext cx="1778635" cy="1040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07340" algn="l" rtl="0" eaLnBrk="0">
              <a:lnSpc>
                <a:spcPct val="100000"/>
              </a:lnSpc>
              <a:tabLst/>
            </a:pPr>
            <a:r>
              <a:rPr sz="1500" b="1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中期(3-6月)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10000"/>
              </a:lnSpc>
              <a:spcBef>
                <a:spcPts val="1"/>
              </a:spcBef>
              <a:tabLst/>
            </a:pP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微服务升级、</a:t>
            </a:r>
            <a:r>
              <a:rPr sz="15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K8s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署、数据分析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8616919" y="5042013"/>
            <a:ext cx="1877060" cy="508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415" indent="-5714" algn="l" rtl="0" eaLnBrk="0">
              <a:lnSpc>
                <a:spcPct val="108000"/>
              </a:lnSpc>
              <a:tabLst/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开源运营、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SaaS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化、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教育生态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64" name="picture 36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499640" y="4756160"/>
            <a:ext cx="1758939" cy="260329"/>
          </a:xfrm>
          <a:prstGeom prst="rect">
            <a:avLst/>
          </a:prstGeom>
        </p:spPr>
      </p:pic>
      <p:sp>
        <p:nvSpPr>
          <p:cNvPr id="366" name="textbox 366"/>
          <p:cNvSpPr/>
          <p:nvPr/>
        </p:nvSpPr>
        <p:spPr>
          <a:xfrm>
            <a:off x="8841994" y="4515113"/>
            <a:ext cx="13938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30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长期(6-</a:t>
            </a:r>
            <a:r>
              <a:rPr sz="1500" kern="0" spc="-3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b="1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12月)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68" name="textbox 368"/>
          <p:cNvSpPr/>
          <p:nvPr/>
        </p:nvSpPr>
        <p:spPr>
          <a:xfrm>
            <a:off x="11233201" y="6267765"/>
            <a:ext cx="536575" cy="30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51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2300" b="1" kern="0" spc="-10" dirty="0">
                <a:solidFill>
                  <a:srgbClr val="5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Yal</a:t>
            </a:r>
            <a:r>
              <a:rPr sz="2300" b="1" kern="0" spc="-10" dirty="0">
                <a:solidFill>
                  <a:srgbClr val="605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i</a:t>
            </a:r>
            <a:endParaRPr sz="23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2026-01-04T14:55:53Z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2026-01-04T14:56:05</vt:filetime>
  </property>
  <property fmtid="{D5CDD505-2E9C-101B-9397-08002B2CF9AE}" pid="4" name="UsrData">
    <vt:lpwstr>695a0ef41b46a000019f9150wl</vt:lpwstr>
  </property>
</Properties>
</file>